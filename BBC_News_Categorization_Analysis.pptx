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17"/>
  </p:notesMasterIdLst>
  <p:sldIdLst>
    <p:sldId id="2561" r:id="rId5"/>
    <p:sldId id="2562" r:id="rId6"/>
    <p:sldId id="2563" r:id="rId7"/>
    <p:sldId id="2564" r:id="rId8"/>
    <p:sldId id="2565" r:id="rId9"/>
    <p:sldId id="2566" r:id="rId10"/>
    <p:sldId id="2567" r:id="rId11"/>
    <p:sldId id="2568" r:id="rId12"/>
    <p:sldId id="2569" r:id="rId13"/>
    <p:sldId id="2570" r:id="rId14"/>
    <p:sldId id="2573" r:id="rId15"/>
    <p:sldId id="25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BC News Categorization Analysis" id="{C3BA5226-A039-468E-BF7B-A1F30930F63E}">
          <p14:sldIdLst>
            <p14:sldId id="2561"/>
          </p14:sldIdLst>
        </p14:section>
        <p14:section name="Introduction" id="{924D3D40-B107-4168-A677-47188840063C}">
          <p14:sldIdLst>
            <p14:sldId id="2562"/>
            <p14:sldId id="2563"/>
            <p14:sldId id="2564"/>
          </p14:sldIdLst>
        </p14:section>
        <p14:section name="Model Comparison and Performance" id="{4B908585-6AD2-4676-AF35-D2587F6F79B3}">
          <p14:sldIdLst>
            <p14:sldId id="2565"/>
            <p14:sldId id="2566"/>
            <p14:sldId id="2567"/>
          </p14:sldIdLst>
        </p14:section>
        <p14:section name="Reflection and Future Directions" id="{E3DF0E90-3408-4BC9-82AF-62AF1C5117CE}">
          <p14:sldIdLst>
            <p14:sldId id="2568"/>
            <p14:sldId id="2569"/>
            <p14:sldId id="2570"/>
          </p14:sldIdLst>
        </p14:section>
        <p14:section name="Next Improvements" id="{9C232EE4-672C-428E-9622-3FFFC398B782}">
          <p14:sldIdLst/>
        </p14:section>
        <p14:section name="Conclusion" id="{C3FE5D0A-2081-42F1-B44B-24B91A61E7AB}">
          <p14:sldIdLst>
            <p14:sldId id="2573"/>
            <p14:sldId id="25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83" autoAdjust="0"/>
    <p:restoredTop sz="94494" autoAdjust="0"/>
  </p:normalViewPr>
  <p:slideViewPr>
    <p:cSldViewPr snapToGrid="0" showGuides="1">
      <p:cViewPr varScale="1">
        <p:scale>
          <a:sx n="94" d="100"/>
          <a:sy n="94" d="100"/>
        </p:scale>
        <p:origin x="208" y="528"/>
      </p:cViewPr>
      <p:guideLst>
        <p:guide orient="horz" pos="2160"/>
        <p:guide pos="3840"/>
      </p:guideLst>
    </p:cSldViewPr>
  </p:slideViewPr>
  <p:notesTextViewPr>
    <p:cViewPr>
      <p:scale>
        <a:sx n="1" d="1"/>
        <a:sy n="1" d="1"/>
      </p:scale>
      <p:origin x="0" y="0"/>
    </p:cViewPr>
  </p:notesTextViewPr>
  <p:sorterViewPr>
    <p:cViewPr>
      <p:scale>
        <a:sx n="100" d="100"/>
        <a:sy n="100" d="100"/>
      </p:scale>
      <p:origin x="0" y="-551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diagrams/_rels/data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4A3DEC-4455-4A63-AF26-3CA96A13F00D}"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473AA1E0-D72E-4656-9E95-89216ED4569D}">
      <dgm:prSet/>
      <dgm:spPr/>
      <dgm:t>
        <a:bodyPr/>
        <a:lstStyle/>
        <a:p>
          <a:pPr>
            <a:lnSpc>
              <a:spcPct val="100000"/>
            </a:lnSpc>
            <a:defRPr b="1"/>
          </a:pPr>
          <a:r>
            <a:rPr lang="en-US" dirty="0"/>
            <a:t>Project Overview</a:t>
          </a:r>
        </a:p>
      </dgm:t>
    </dgm:pt>
    <dgm:pt modelId="{8E30B073-8092-47DA-A55C-61331F17AB25}" type="parTrans" cxnId="{C77104BB-4480-431C-B2C4-2023BC6E2AF0}">
      <dgm:prSet/>
      <dgm:spPr/>
      <dgm:t>
        <a:bodyPr/>
        <a:lstStyle/>
        <a:p>
          <a:endParaRPr lang="en-US"/>
        </a:p>
      </dgm:t>
    </dgm:pt>
    <dgm:pt modelId="{F510F8F6-7470-451B-ADC3-C4268D1598E0}" type="sibTrans" cxnId="{C77104BB-4480-431C-B2C4-2023BC6E2AF0}">
      <dgm:prSet/>
      <dgm:spPr/>
      <dgm:t>
        <a:bodyPr/>
        <a:lstStyle/>
        <a:p>
          <a:pPr>
            <a:lnSpc>
              <a:spcPct val="100000"/>
            </a:lnSpc>
            <a:defRPr b="1"/>
          </a:pPr>
          <a:endParaRPr lang="en-US"/>
        </a:p>
      </dgm:t>
    </dgm:pt>
    <dgm:pt modelId="{0BA329E3-26BE-4F91-8E22-077ADD8C0110}">
      <dgm:prSet/>
      <dgm:spPr/>
      <dgm:t>
        <a:bodyPr/>
        <a:lstStyle/>
        <a:p>
          <a:pPr>
            <a:lnSpc>
              <a:spcPct val="100000"/>
            </a:lnSpc>
          </a:pPr>
          <a:r>
            <a:rPr lang="en-US" dirty="0"/>
            <a:t>The goal of this project was to analyze the provided BBC News Dataset. We implemented a comprehensive NLP pipeline to process, analyze, and classify news articles into their respective categories.</a:t>
          </a:r>
        </a:p>
      </dgm:t>
    </dgm:pt>
    <dgm:pt modelId="{C282D3EA-0A8A-4146-9BC7-01867CAC6949}" type="parTrans" cxnId="{52F0CCA3-BCC8-43F4-8E9D-BB79EDF9AC97}">
      <dgm:prSet/>
      <dgm:spPr/>
      <dgm:t>
        <a:bodyPr/>
        <a:lstStyle/>
        <a:p>
          <a:endParaRPr lang="en-US"/>
        </a:p>
      </dgm:t>
    </dgm:pt>
    <dgm:pt modelId="{11548472-EA47-400B-B769-D333C8FB5345}" type="sibTrans" cxnId="{52F0CCA3-BCC8-43F4-8E9D-BB79EDF9AC97}">
      <dgm:prSet/>
      <dgm:spPr/>
      <dgm:t>
        <a:bodyPr/>
        <a:lstStyle/>
        <a:p>
          <a:endParaRPr lang="en-US"/>
        </a:p>
      </dgm:t>
    </dgm:pt>
    <dgm:pt modelId="{570F7D16-3886-45B4-93AB-9FEC90D5345D}">
      <dgm:prSet/>
      <dgm:spPr/>
      <dgm:t>
        <a:bodyPr/>
        <a:lstStyle/>
        <a:p>
          <a:pPr>
            <a:lnSpc>
              <a:spcPct val="100000"/>
            </a:lnSpc>
            <a:defRPr b="1"/>
          </a:pPr>
          <a:r>
            <a:rPr lang="en-US" dirty="0"/>
            <a:t>News Article Categorization</a:t>
          </a:r>
        </a:p>
      </dgm:t>
    </dgm:pt>
    <dgm:pt modelId="{07E207A4-A518-42B9-9D52-F6B23037C6C9}" type="parTrans" cxnId="{3FEBD82D-7A9E-4355-8F6C-2925DC459E2B}">
      <dgm:prSet/>
      <dgm:spPr/>
      <dgm:t>
        <a:bodyPr/>
        <a:lstStyle/>
        <a:p>
          <a:endParaRPr lang="en-US"/>
        </a:p>
      </dgm:t>
    </dgm:pt>
    <dgm:pt modelId="{9BAFF8B1-A32D-4B87-8600-700C29479844}" type="sibTrans" cxnId="{3FEBD82D-7A9E-4355-8F6C-2925DC459E2B}">
      <dgm:prSet/>
      <dgm:spPr/>
      <dgm:t>
        <a:bodyPr/>
        <a:lstStyle/>
        <a:p>
          <a:pPr>
            <a:lnSpc>
              <a:spcPct val="100000"/>
            </a:lnSpc>
            <a:defRPr b="1"/>
          </a:pPr>
          <a:endParaRPr lang="en-US"/>
        </a:p>
      </dgm:t>
    </dgm:pt>
    <dgm:pt modelId="{A8C99638-7D03-49F4-8015-1DC2B217EB76}">
      <dgm:prSet/>
      <dgm:spPr/>
      <dgm:t>
        <a:bodyPr/>
        <a:lstStyle/>
        <a:p>
          <a:pPr>
            <a:lnSpc>
              <a:spcPct val="100000"/>
            </a:lnSpc>
          </a:pPr>
          <a:r>
            <a:rPr lang="en-US" dirty="0"/>
            <a:t>Classification targets categories like business, tech, politics, sport, and entertainment for effective content management.</a:t>
          </a:r>
        </a:p>
      </dgm:t>
    </dgm:pt>
    <dgm:pt modelId="{C8747738-257E-4716-BB42-F4B2EC26E6C0}" type="parTrans" cxnId="{5DD61786-AB6F-40BA-8E4C-2A8ADBAF46D8}">
      <dgm:prSet/>
      <dgm:spPr/>
      <dgm:t>
        <a:bodyPr/>
        <a:lstStyle/>
        <a:p>
          <a:endParaRPr lang="en-US"/>
        </a:p>
      </dgm:t>
    </dgm:pt>
    <dgm:pt modelId="{EE29F64D-CBC7-4006-ABC2-9A17CD3AA00E}" type="sibTrans" cxnId="{5DD61786-AB6F-40BA-8E4C-2A8ADBAF46D8}">
      <dgm:prSet/>
      <dgm:spPr/>
      <dgm:t>
        <a:bodyPr/>
        <a:lstStyle/>
        <a:p>
          <a:endParaRPr lang="en-US"/>
        </a:p>
      </dgm:t>
    </dgm:pt>
    <dgm:pt modelId="{D4D7C88F-94B7-4636-9FF4-2952C716B29E}">
      <dgm:prSet/>
      <dgm:spPr/>
      <dgm:t>
        <a:bodyPr/>
        <a:lstStyle/>
        <a:p>
          <a:pPr>
            <a:lnSpc>
              <a:spcPct val="100000"/>
            </a:lnSpc>
            <a:defRPr b="1"/>
          </a:pPr>
          <a:r>
            <a:rPr lang="en-US" dirty="0"/>
            <a:t>Project Impact</a:t>
          </a:r>
        </a:p>
      </dgm:t>
    </dgm:pt>
    <dgm:pt modelId="{9839FE9C-D51D-4BBF-8C6B-B5752E4D697B}" type="parTrans" cxnId="{B4FC40EE-BAB2-4E72-85FC-0A85CFC32515}">
      <dgm:prSet/>
      <dgm:spPr/>
      <dgm:t>
        <a:bodyPr/>
        <a:lstStyle/>
        <a:p>
          <a:endParaRPr lang="en-US"/>
        </a:p>
      </dgm:t>
    </dgm:pt>
    <dgm:pt modelId="{50FB8D18-08F7-4A9A-B607-B020D21291C0}" type="sibTrans" cxnId="{B4FC40EE-BAB2-4E72-85FC-0A85CFC32515}">
      <dgm:prSet/>
      <dgm:spPr/>
      <dgm:t>
        <a:bodyPr/>
        <a:lstStyle/>
        <a:p>
          <a:endParaRPr lang="en-US"/>
        </a:p>
      </dgm:t>
    </dgm:pt>
    <dgm:pt modelId="{EE14DC4F-21EC-4040-9983-16E85331791E}">
      <dgm:prSet/>
      <dgm:spPr/>
      <dgm:t>
        <a:bodyPr/>
        <a:lstStyle/>
        <a:p>
          <a:pPr>
            <a:lnSpc>
              <a:spcPct val="100000"/>
            </a:lnSpc>
          </a:pPr>
          <a:r>
            <a:rPr lang="en-US"/>
            <a:t>Automated categorization supports media monitoring, trend identification, and decision-making in large text datasets.</a:t>
          </a:r>
        </a:p>
      </dgm:t>
    </dgm:pt>
    <dgm:pt modelId="{7AEAB00E-8B75-4EDA-A0B9-D991D8D900B8}" type="parTrans" cxnId="{EB8CDFD1-6822-4E05-BA47-B19466129F1E}">
      <dgm:prSet/>
      <dgm:spPr/>
      <dgm:t>
        <a:bodyPr/>
        <a:lstStyle/>
        <a:p>
          <a:endParaRPr lang="en-US"/>
        </a:p>
      </dgm:t>
    </dgm:pt>
    <dgm:pt modelId="{667F4E8E-AFF8-410F-A5CB-7F53945345BF}" type="sibTrans" cxnId="{EB8CDFD1-6822-4E05-BA47-B19466129F1E}">
      <dgm:prSet/>
      <dgm:spPr/>
      <dgm:t>
        <a:bodyPr/>
        <a:lstStyle/>
        <a:p>
          <a:endParaRPr lang="en-US"/>
        </a:p>
      </dgm:t>
    </dgm:pt>
    <dgm:pt modelId="{34943274-B3FE-41CD-970B-7C7D78D28828}" type="pres">
      <dgm:prSet presAssocID="{9A4A3DEC-4455-4A63-AF26-3CA96A13F00D}" presName="Root" presStyleCnt="0">
        <dgm:presLayoutVars>
          <dgm:dir/>
          <dgm:resizeHandles val="exact"/>
        </dgm:presLayoutVars>
      </dgm:prSet>
      <dgm:spPr/>
    </dgm:pt>
    <dgm:pt modelId="{69DEACC0-A020-4BD7-996B-CB2001027999}" type="pres">
      <dgm:prSet presAssocID="{473AA1E0-D72E-4656-9E95-89216ED4569D}" presName="Composite" presStyleCnt="0"/>
      <dgm:spPr/>
    </dgm:pt>
    <dgm:pt modelId="{A26AC0F2-01B4-41A0-9895-BE208EA8D874}" type="pres">
      <dgm:prSet presAssocID="{473AA1E0-D72E-4656-9E95-89216ED4569D}"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1067" r="2188" b="8"/>
          <a:stretch/>
        </a:blipFill>
      </dgm:spPr>
      <dgm:extLst>
        <a:ext uri="{E40237B7-FDA0-4F09-8148-C483321AD2D9}">
          <dgm14:cNvPr xmlns:dgm14="http://schemas.microsoft.com/office/drawing/2010/diagram" id="0" name="" descr="Shiny pyramid greenhouse sustainable growth and finance concept"/>
        </a:ext>
      </dgm:extLst>
    </dgm:pt>
    <dgm:pt modelId="{6686C212-75E6-4FEE-967D-28872CE6592C}" type="pres">
      <dgm:prSet presAssocID="{473AA1E0-D72E-4656-9E95-89216ED4569D}" presName="Subtitle" presStyleLbl="revTx" presStyleIdx="0" presStyleCnt="6">
        <dgm:presLayoutVars>
          <dgm:chMax val="0"/>
          <dgm:bulletEnabled/>
        </dgm:presLayoutVars>
      </dgm:prSet>
      <dgm:spPr/>
    </dgm:pt>
    <dgm:pt modelId="{0A82C0D1-C6F8-4478-956F-D80F1C6785C9}" type="pres">
      <dgm:prSet presAssocID="{473AA1E0-D72E-4656-9E95-89216ED4569D}" presName="Description" presStyleLbl="revTx" presStyleIdx="1" presStyleCnt="6">
        <dgm:presLayoutVars>
          <dgm:bulletEnabled/>
        </dgm:presLayoutVars>
      </dgm:prSet>
      <dgm:spPr/>
    </dgm:pt>
    <dgm:pt modelId="{2A82EC26-EFA5-45AC-A6BC-9108324A85C5}" type="pres">
      <dgm:prSet presAssocID="{F510F8F6-7470-451B-ADC3-C4268D1598E0}" presName="sibTrans" presStyleLbl="sibTrans2D1" presStyleIdx="0" presStyleCnt="0"/>
      <dgm:spPr/>
    </dgm:pt>
    <dgm:pt modelId="{619BE0F4-1B2F-4096-A061-6B48B2393BD6}" type="pres">
      <dgm:prSet presAssocID="{570F7D16-3886-45B4-93AB-9FEC90D5345D}" presName="Composite" presStyleCnt="0"/>
      <dgm:spPr/>
    </dgm:pt>
    <dgm:pt modelId="{A15D552D-2787-4E8A-B168-D1A3585AC0D0}" type="pres">
      <dgm:prSet presAssocID="{570F7D16-3886-45B4-93AB-9FEC90D5345D}"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6249" r="6258" b="9"/>
          <a:stretch/>
        </a:blipFill>
      </dgm:spPr>
      <dgm:extLst>
        <a:ext uri="{E40237B7-FDA0-4F09-8148-C483321AD2D9}">
          <dgm14:cNvPr xmlns:dgm14="http://schemas.microsoft.com/office/drawing/2010/diagram" id="0" name="" descr="Globe with word: &quot;NEWS&quot;. International news concept."/>
        </a:ext>
      </dgm:extLst>
    </dgm:pt>
    <dgm:pt modelId="{DFFA47F5-BDF0-455C-95E2-F0AC67A04A3A}" type="pres">
      <dgm:prSet presAssocID="{570F7D16-3886-45B4-93AB-9FEC90D5345D}" presName="Subtitle" presStyleLbl="revTx" presStyleIdx="2" presStyleCnt="6">
        <dgm:presLayoutVars>
          <dgm:chMax val="0"/>
          <dgm:bulletEnabled/>
        </dgm:presLayoutVars>
      </dgm:prSet>
      <dgm:spPr/>
    </dgm:pt>
    <dgm:pt modelId="{4975E296-8375-43A3-B476-B7A55B1CE904}" type="pres">
      <dgm:prSet presAssocID="{570F7D16-3886-45B4-93AB-9FEC90D5345D}" presName="Description" presStyleLbl="revTx" presStyleIdx="3" presStyleCnt="6">
        <dgm:presLayoutVars>
          <dgm:bulletEnabled/>
        </dgm:presLayoutVars>
      </dgm:prSet>
      <dgm:spPr/>
    </dgm:pt>
    <dgm:pt modelId="{1CDA2F95-4BFB-4741-BDC7-6CE95DF065C6}" type="pres">
      <dgm:prSet presAssocID="{9BAFF8B1-A32D-4B87-8600-700C29479844}" presName="sibTrans" presStyleLbl="sibTrans2D1" presStyleIdx="0" presStyleCnt="0"/>
      <dgm:spPr/>
    </dgm:pt>
    <dgm:pt modelId="{C2ED5D1A-5CA4-4BD1-84D1-C56AC6CCAEAA}" type="pres">
      <dgm:prSet presAssocID="{D4D7C88F-94B7-4636-9FF4-2952C716B29E}" presName="Composite" presStyleCnt="0"/>
      <dgm:spPr/>
    </dgm:pt>
    <dgm:pt modelId="{297CFE08-F521-4AC6-90F6-6F42AA395043}" type="pres">
      <dgm:prSet presAssocID="{D4D7C88F-94B7-4636-9FF4-2952C716B29E}"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12" b="12"/>
          <a:stretch/>
        </a:blipFill>
      </dgm:spPr>
      <dgm:extLst>
        <a:ext uri="{E40237B7-FDA0-4F09-8148-C483321AD2D9}">
          <dgm14:cNvPr xmlns:dgm14="http://schemas.microsoft.com/office/drawing/2010/diagram" id="0" name="" descr="3d illustration"/>
        </a:ext>
      </dgm:extLst>
    </dgm:pt>
    <dgm:pt modelId="{2719406C-7617-4BBE-8EDE-909663A93170}" type="pres">
      <dgm:prSet presAssocID="{D4D7C88F-94B7-4636-9FF4-2952C716B29E}" presName="Subtitle" presStyleLbl="revTx" presStyleIdx="4" presStyleCnt="6">
        <dgm:presLayoutVars>
          <dgm:chMax val="0"/>
          <dgm:bulletEnabled/>
        </dgm:presLayoutVars>
      </dgm:prSet>
      <dgm:spPr/>
    </dgm:pt>
    <dgm:pt modelId="{F269F158-99D9-4367-8E3A-A52607A9DB38}" type="pres">
      <dgm:prSet presAssocID="{D4D7C88F-94B7-4636-9FF4-2952C716B29E}" presName="Description" presStyleLbl="revTx" presStyleIdx="5" presStyleCnt="6">
        <dgm:presLayoutVars>
          <dgm:bulletEnabled/>
        </dgm:presLayoutVars>
      </dgm:prSet>
      <dgm:spPr/>
    </dgm:pt>
  </dgm:ptLst>
  <dgm:cxnLst>
    <dgm:cxn modelId="{30214D04-2CC9-4C52-96BA-A47D3A315D00}" type="presOf" srcId="{570F7D16-3886-45B4-93AB-9FEC90D5345D}" destId="{DFFA47F5-BDF0-455C-95E2-F0AC67A04A3A}" srcOrd="0" destOrd="0" presId="urn:microsoft.com/office/officeart/2024/3/layout/verticalVisualTextBlock1"/>
    <dgm:cxn modelId="{3FEBD82D-7A9E-4355-8F6C-2925DC459E2B}" srcId="{9A4A3DEC-4455-4A63-AF26-3CA96A13F00D}" destId="{570F7D16-3886-45B4-93AB-9FEC90D5345D}" srcOrd="1" destOrd="0" parTransId="{07E207A4-A518-42B9-9D52-F6B23037C6C9}" sibTransId="{9BAFF8B1-A32D-4B87-8600-700C29479844}"/>
    <dgm:cxn modelId="{81C75B49-84AC-4261-A1E9-471217A486A5}" type="presOf" srcId="{0BA329E3-26BE-4F91-8E22-077ADD8C0110}" destId="{0A82C0D1-C6F8-4478-956F-D80F1C6785C9}" srcOrd="0" destOrd="0" presId="urn:microsoft.com/office/officeart/2024/3/layout/verticalVisualTextBlock1"/>
    <dgm:cxn modelId="{EE93714A-2F77-4DA9-99EB-0292063F406B}" type="presOf" srcId="{EE14DC4F-21EC-4040-9983-16E85331791E}" destId="{F269F158-99D9-4367-8E3A-A52607A9DB38}" srcOrd="0" destOrd="0" presId="urn:microsoft.com/office/officeart/2024/3/layout/verticalVisualTextBlock1"/>
    <dgm:cxn modelId="{8CC1A785-1934-44CA-AECC-64A7F00C74B7}" type="presOf" srcId="{A8C99638-7D03-49F4-8015-1DC2B217EB76}" destId="{4975E296-8375-43A3-B476-B7A55B1CE904}" srcOrd="0" destOrd="0" presId="urn:microsoft.com/office/officeart/2024/3/layout/verticalVisualTextBlock1"/>
    <dgm:cxn modelId="{5DD61786-AB6F-40BA-8E4C-2A8ADBAF46D8}" srcId="{570F7D16-3886-45B4-93AB-9FEC90D5345D}" destId="{A8C99638-7D03-49F4-8015-1DC2B217EB76}" srcOrd="0" destOrd="0" parTransId="{C8747738-257E-4716-BB42-F4B2EC26E6C0}" sibTransId="{EE29F64D-CBC7-4006-ABC2-9A17CD3AA00E}"/>
    <dgm:cxn modelId="{96B27D99-8357-4696-9FC1-9BE30A6C416D}" type="presOf" srcId="{473AA1E0-D72E-4656-9E95-89216ED4569D}" destId="{6686C212-75E6-4FEE-967D-28872CE6592C}" srcOrd="0" destOrd="0" presId="urn:microsoft.com/office/officeart/2024/3/layout/verticalVisualTextBlock1"/>
    <dgm:cxn modelId="{CCF4B09F-6858-4B62-BC58-AAB330386B65}" type="presOf" srcId="{F510F8F6-7470-451B-ADC3-C4268D1598E0}" destId="{2A82EC26-EFA5-45AC-A6BC-9108324A85C5}" srcOrd="0" destOrd="0" presId="urn:microsoft.com/office/officeart/2024/3/layout/verticalVisualTextBlock1"/>
    <dgm:cxn modelId="{E99473A3-60E9-456B-9580-BF81483578D4}" type="presOf" srcId="{9A4A3DEC-4455-4A63-AF26-3CA96A13F00D}" destId="{34943274-B3FE-41CD-970B-7C7D78D28828}" srcOrd="0" destOrd="0" presId="urn:microsoft.com/office/officeart/2024/3/layout/verticalVisualTextBlock1"/>
    <dgm:cxn modelId="{52F0CCA3-BCC8-43F4-8E9D-BB79EDF9AC97}" srcId="{473AA1E0-D72E-4656-9E95-89216ED4569D}" destId="{0BA329E3-26BE-4F91-8E22-077ADD8C0110}" srcOrd="0" destOrd="0" parTransId="{C282D3EA-0A8A-4146-9BC7-01867CAC6949}" sibTransId="{11548472-EA47-400B-B769-D333C8FB5345}"/>
    <dgm:cxn modelId="{9FB962A9-A9BB-4A54-8882-66C3FA6F6A18}" type="presOf" srcId="{D4D7C88F-94B7-4636-9FF4-2952C716B29E}" destId="{2719406C-7617-4BBE-8EDE-909663A93170}" srcOrd="0" destOrd="0" presId="urn:microsoft.com/office/officeart/2024/3/layout/verticalVisualTextBlock1"/>
    <dgm:cxn modelId="{C77104BB-4480-431C-B2C4-2023BC6E2AF0}" srcId="{9A4A3DEC-4455-4A63-AF26-3CA96A13F00D}" destId="{473AA1E0-D72E-4656-9E95-89216ED4569D}" srcOrd="0" destOrd="0" parTransId="{8E30B073-8092-47DA-A55C-61331F17AB25}" sibTransId="{F510F8F6-7470-451B-ADC3-C4268D1598E0}"/>
    <dgm:cxn modelId="{47DC98BE-A9A6-4F71-9E12-6B3729BF796A}" type="presOf" srcId="{9BAFF8B1-A32D-4B87-8600-700C29479844}" destId="{1CDA2F95-4BFB-4741-BDC7-6CE95DF065C6}" srcOrd="0" destOrd="0" presId="urn:microsoft.com/office/officeart/2024/3/layout/verticalVisualTextBlock1"/>
    <dgm:cxn modelId="{EB8CDFD1-6822-4E05-BA47-B19466129F1E}" srcId="{D4D7C88F-94B7-4636-9FF4-2952C716B29E}" destId="{EE14DC4F-21EC-4040-9983-16E85331791E}" srcOrd="0" destOrd="0" parTransId="{7AEAB00E-8B75-4EDA-A0B9-D991D8D900B8}" sibTransId="{667F4E8E-AFF8-410F-A5CB-7F53945345BF}"/>
    <dgm:cxn modelId="{B4FC40EE-BAB2-4E72-85FC-0A85CFC32515}" srcId="{9A4A3DEC-4455-4A63-AF26-3CA96A13F00D}" destId="{D4D7C88F-94B7-4636-9FF4-2952C716B29E}" srcOrd="2" destOrd="0" parTransId="{9839FE9C-D51D-4BBF-8C6B-B5752E4D697B}" sibTransId="{50FB8D18-08F7-4A9A-B607-B020D21291C0}"/>
    <dgm:cxn modelId="{F568EBC2-3ECB-42A2-933B-CF97F8DC8CCE}" type="presParOf" srcId="{34943274-B3FE-41CD-970B-7C7D78D28828}" destId="{69DEACC0-A020-4BD7-996B-CB2001027999}" srcOrd="0" destOrd="0" presId="urn:microsoft.com/office/officeart/2024/3/layout/verticalVisualTextBlock1"/>
    <dgm:cxn modelId="{11C9356B-A214-47A5-AAB2-584F51A224FA}" type="presParOf" srcId="{69DEACC0-A020-4BD7-996B-CB2001027999}" destId="{A26AC0F2-01B4-41A0-9895-BE208EA8D874}" srcOrd="0" destOrd="0" presId="urn:microsoft.com/office/officeart/2024/3/layout/verticalVisualTextBlock1"/>
    <dgm:cxn modelId="{D9240CA5-4368-4074-9F41-96242AEEC76A}" type="presParOf" srcId="{69DEACC0-A020-4BD7-996B-CB2001027999}" destId="{6686C212-75E6-4FEE-967D-28872CE6592C}" srcOrd="1" destOrd="0" presId="urn:microsoft.com/office/officeart/2024/3/layout/verticalVisualTextBlock1"/>
    <dgm:cxn modelId="{9B4E2503-86D1-47EE-A466-2F6660737D9E}" type="presParOf" srcId="{69DEACC0-A020-4BD7-996B-CB2001027999}" destId="{0A82C0D1-C6F8-4478-956F-D80F1C6785C9}" srcOrd="2" destOrd="0" presId="urn:microsoft.com/office/officeart/2024/3/layout/verticalVisualTextBlock1"/>
    <dgm:cxn modelId="{F5AA99CA-E22F-4233-99E9-B6167DEE080B}" type="presParOf" srcId="{34943274-B3FE-41CD-970B-7C7D78D28828}" destId="{2A82EC26-EFA5-45AC-A6BC-9108324A85C5}" srcOrd="1" destOrd="0" presId="urn:microsoft.com/office/officeart/2024/3/layout/verticalVisualTextBlock1"/>
    <dgm:cxn modelId="{433EB8D0-B07A-4512-B77D-7C03CCC93887}" type="presParOf" srcId="{34943274-B3FE-41CD-970B-7C7D78D28828}" destId="{619BE0F4-1B2F-4096-A061-6B48B2393BD6}" srcOrd="2" destOrd="0" presId="urn:microsoft.com/office/officeart/2024/3/layout/verticalVisualTextBlock1"/>
    <dgm:cxn modelId="{16249D6C-19BC-4475-AA3D-A2A9CADB8A5D}" type="presParOf" srcId="{619BE0F4-1B2F-4096-A061-6B48B2393BD6}" destId="{A15D552D-2787-4E8A-B168-D1A3585AC0D0}" srcOrd="0" destOrd="0" presId="urn:microsoft.com/office/officeart/2024/3/layout/verticalVisualTextBlock1"/>
    <dgm:cxn modelId="{3DE5D9DB-327A-4266-A2FC-EACA00F14B42}" type="presParOf" srcId="{619BE0F4-1B2F-4096-A061-6B48B2393BD6}" destId="{DFFA47F5-BDF0-455C-95E2-F0AC67A04A3A}" srcOrd="1" destOrd="0" presId="urn:microsoft.com/office/officeart/2024/3/layout/verticalVisualTextBlock1"/>
    <dgm:cxn modelId="{C7B0D4BC-5FC4-453D-8487-DF5701818B63}" type="presParOf" srcId="{619BE0F4-1B2F-4096-A061-6B48B2393BD6}" destId="{4975E296-8375-43A3-B476-B7A55B1CE904}" srcOrd="2" destOrd="0" presId="urn:microsoft.com/office/officeart/2024/3/layout/verticalVisualTextBlock1"/>
    <dgm:cxn modelId="{D67ECC86-B6F1-454F-986D-77F55E700056}" type="presParOf" srcId="{34943274-B3FE-41CD-970B-7C7D78D28828}" destId="{1CDA2F95-4BFB-4741-BDC7-6CE95DF065C6}" srcOrd="3" destOrd="0" presId="urn:microsoft.com/office/officeart/2024/3/layout/verticalVisualTextBlock1"/>
    <dgm:cxn modelId="{E01BDBE5-986A-481C-9034-6463B18B24B5}" type="presParOf" srcId="{34943274-B3FE-41CD-970B-7C7D78D28828}" destId="{C2ED5D1A-5CA4-4BD1-84D1-C56AC6CCAEAA}" srcOrd="4" destOrd="0" presId="urn:microsoft.com/office/officeart/2024/3/layout/verticalVisualTextBlock1"/>
    <dgm:cxn modelId="{BFD0CA37-CE8E-45E3-9D9F-DE0D76605576}" type="presParOf" srcId="{C2ED5D1A-5CA4-4BD1-84D1-C56AC6CCAEAA}" destId="{297CFE08-F521-4AC6-90F6-6F42AA395043}" srcOrd="0" destOrd="0" presId="urn:microsoft.com/office/officeart/2024/3/layout/verticalVisualTextBlock1"/>
    <dgm:cxn modelId="{8EFA8BB3-FB05-4B1D-8F2C-36A93E09B1F0}" type="presParOf" srcId="{C2ED5D1A-5CA4-4BD1-84D1-C56AC6CCAEAA}" destId="{2719406C-7617-4BBE-8EDE-909663A93170}" srcOrd="1" destOrd="0" presId="urn:microsoft.com/office/officeart/2024/3/layout/verticalVisualTextBlock1"/>
    <dgm:cxn modelId="{E134F80E-8AE8-4616-AD54-54FD91F2BDE8}" type="presParOf" srcId="{C2ED5D1A-5CA4-4BD1-84D1-C56AC6CCAEAA}" destId="{F269F158-99D9-4367-8E3A-A52607A9DB38}"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AC0F2-01B4-41A0-9895-BE208EA8D874}">
      <dsp:nvSpPr>
        <dsp:cNvPr id="0" name=""/>
        <dsp:cNvSpPr/>
      </dsp:nvSpPr>
      <dsp:spPr>
        <a:xfrm>
          <a:off x="0" y="0"/>
          <a:ext cx="1442225" cy="144222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1067" r="2188" b="8"/>
          <a:stretch/>
        </a:blipFill>
        <a:ln>
          <a:noFill/>
        </a:ln>
        <a:effectLst/>
      </dsp:spPr>
      <dsp:style>
        <a:lnRef idx="0">
          <a:scrgbClr r="0" g="0" b="0"/>
        </a:lnRef>
        <a:fillRef idx="3">
          <a:scrgbClr r="0" g="0" b="0"/>
        </a:fillRef>
        <a:effectRef idx="2">
          <a:scrgbClr r="0" g="0" b="0"/>
        </a:effectRef>
        <a:fontRef idx="minor">
          <a:schemeClr val="lt1"/>
        </a:fontRef>
      </dsp:style>
    </dsp:sp>
    <dsp:sp modelId="{6686C212-75E6-4FEE-967D-28872CE6592C}">
      <dsp:nvSpPr>
        <dsp:cNvPr id="0" name=""/>
        <dsp:cNvSpPr/>
      </dsp:nvSpPr>
      <dsp:spPr>
        <a:xfrm>
          <a:off x="1622225" y="0"/>
          <a:ext cx="9218401" cy="365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Project Overview</a:t>
          </a:r>
        </a:p>
      </dsp:txBody>
      <dsp:txXfrm>
        <a:off x="1622225" y="0"/>
        <a:ext cx="9218401" cy="365668"/>
      </dsp:txXfrm>
    </dsp:sp>
    <dsp:sp modelId="{0A82C0D1-C6F8-4478-956F-D80F1C6785C9}">
      <dsp:nvSpPr>
        <dsp:cNvPr id="0" name=""/>
        <dsp:cNvSpPr/>
      </dsp:nvSpPr>
      <dsp:spPr>
        <a:xfrm>
          <a:off x="1622225" y="365668"/>
          <a:ext cx="9218401" cy="1076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The goal of this project was to analyze the provided BBC News Dataset. We implemented a comprehensive NLP pipeline to process, analyze, and classify news articles into their respective categories.</a:t>
          </a:r>
        </a:p>
      </dsp:txBody>
      <dsp:txXfrm>
        <a:off x="1622225" y="365668"/>
        <a:ext cx="9218401" cy="1076556"/>
      </dsp:txXfrm>
    </dsp:sp>
    <dsp:sp modelId="{A15D552D-2787-4E8A-B168-D1A3585AC0D0}">
      <dsp:nvSpPr>
        <dsp:cNvPr id="0" name=""/>
        <dsp:cNvSpPr/>
      </dsp:nvSpPr>
      <dsp:spPr>
        <a:xfrm>
          <a:off x="0" y="1557603"/>
          <a:ext cx="1442225" cy="144222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6249" r="6258" b="9"/>
          <a:stretch/>
        </a:blipFill>
        <a:ln>
          <a:noFill/>
        </a:ln>
        <a:effectLst/>
      </dsp:spPr>
      <dsp:style>
        <a:lnRef idx="0">
          <a:scrgbClr r="0" g="0" b="0"/>
        </a:lnRef>
        <a:fillRef idx="3">
          <a:scrgbClr r="0" g="0" b="0"/>
        </a:fillRef>
        <a:effectRef idx="2">
          <a:scrgbClr r="0" g="0" b="0"/>
        </a:effectRef>
        <a:fontRef idx="minor">
          <a:schemeClr val="lt1"/>
        </a:fontRef>
      </dsp:style>
    </dsp:sp>
    <dsp:sp modelId="{DFFA47F5-BDF0-455C-95E2-F0AC67A04A3A}">
      <dsp:nvSpPr>
        <dsp:cNvPr id="0" name=""/>
        <dsp:cNvSpPr/>
      </dsp:nvSpPr>
      <dsp:spPr>
        <a:xfrm>
          <a:off x="1622225" y="1557603"/>
          <a:ext cx="9218401" cy="365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News Article Categorization</a:t>
          </a:r>
        </a:p>
      </dsp:txBody>
      <dsp:txXfrm>
        <a:off x="1622225" y="1557603"/>
        <a:ext cx="9218401" cy="365668"/>
      </dsp:txXfrm>
    </dsp:sp>
    <dsp:sp modelId="{4975E296-8375-43A3-B476-B7A55B1CE904}">
      <dsp:nvSpPr>
        <dsp:cNvPr id="0" name=""/>
        <dsp:cNvSpPr/>
      </dsp:nvSpPr>
      <dsp:spPr>
        <a:xfrm>
          <a:off x="1622225" y="1923271"/>
          <a:ext cx="9218401" cy="1076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Classification targets categories like business, tech, politics, sport, and entertainment for effective content management.</a:t>
          </a:r>
        </a:p>
      </dsp:txBody>
      <dsp:txXfrm>
        <a:off x="1622225" y="1923271"/>
        <a:ext cx="9218401" cy="1076556"/>
      </dsp:txXfrm>
    </dsp:sp>
    <dsp:sp modelId="{297CFE08-F521-4AC6-90F6-6F42AA395043}">
      <dsp:nvSpPr>
        <dsp:cNvPr id="0" name=""/>
        <dsp:cNvSpPr/>
      </dsp:nvSpPr>
      <dsp:spPr>
        <a:xfrm>
          <a:off x="0" y="3115206"/>
          <a:ext cx="1442225" cy="144222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12" b="12"/>
          <a:stretch/>
        </a:blipFill>
        <a:ln>
          <a:noFill/>
        </a:ln>
        <a:effectLst/>
      </dsp:spPr>
      <dsp:style>
        <a:lnRef idx="0">
          <a:scrgbClr r="0" g="0" b="0"/>
        </a:lnRef>
        <a:fillRef idx="3">
          <a:scrgbClr r="0" g="0" b="0"/>
        </a:fillRef>
        <a:effectRef idx="2">
          <a:scrgbClr r="0" g="0" b="0"/>
        </a:effectRef>
        <a:fontRef idx="minor">
          <a:schemeClr val="lt1"/>
        </a:fontRef>
      </dsp:style>
    </dsp:sp>
    <dsp:sp modelId="{2719406C-7617-4BBE-8EDE-909663A93170}">
      <dsp:nvSpPr>
        <dsp:cNvPr id="0" name=""/>
        <dsp:cNvSpPr/>
      </dsp:nvSpPr>
      <dsp:spPr>
        <a:xfrm>
          <a:off x="1622225" y="3115206"/>
          <a:ext cx="9218401" cy="365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Project Impact</a:t>
          </a:r>
        </a:p>
      </dsp:txBody>
      <dsp:txXfrm>
        <a:off x="1622225" y="3115206"/>
        <a:ext cx="9218401" cy="365668"/>
      </dsp:txXfrm>
    </dsp:sp>
    <dsp:sp modelId="{F269F158-99D9-4367-8E3A-A52607A9DB38}">
      <dsp:nvSpPr>
        <dsp:cNvPr id="0" name=""/>
        <dsp:cNvSpPr/>
      </dsp:nvSpPr>
      <dsp:spPr>
        <a:xfrm>
          <a:off x="1622225" y="3480875"/>
          <a:ext cx="9218401" cy="1076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Automated categorization supports media monitoring, trend identification, and decision-making in large text datasets.</a:t>
          </a:r>
        </a:p>
      </dsp:txBody>
      <dsp:txXfrm>
        <a:off x="1622225" y="3480875"/>
        <a:ext cx="9218401" cy="1076556"/>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6FA5EA-0E1E-4764-B5B7-A47DCC3A898E}" type="datetimeFigureOut">
              <a:rPr lang="en-US" smtClean="0"/>
              <a:t>12/2/25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C6B470-179D-4B95-8906-D61C195EFD62}" type="slidenum">
              <a:rPr lang="en-US" smtClean="0"/>
              <a:t>‹#›</a:t>
            </a:fld>
            <a:endParaRPr lang="en-US" dirty="0"/>
          </a:p>
        </p:txBody>
      </p:sp>
    </p:spTree>
    <p:extLst>
      <p:ext uri="{BB962C8B-B14F-4D97-AF65-F5344CB8AC3E}">
        <p14:creationId xmlns:p14="http://schemas.microsoft.com/office/powerpoint/2010/main" val="3565552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8C6B470-179D-4B95-8906-D61C195EFD62}" type="slidenum">
              <a:rPr lang="en-US" smtClean="0"/>
              <a:t>1</a:t>
            </a:fld>
            <a:endParaRPr lang="en-US" dirty="0"/>
          </a:p>
        </p:txBody>
      </p:sp>
    </p:spTree>
    <p:extLst>
      <p:ext uri="{BB962C8B-B14F-4D97-AF65-F5344CB8AC3E}">
        <p14:creationId xmlns:p14="http://schemas.microsoft.com/office/powerpoint/2010/main" val="3940107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Project Overview, Dataset Details
</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591647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The BBC News Categorization Analysis project aimed to develop a comprehensive NLP pipeline to classify news articles into predefined categories such as business, tech, politics, sport, and entertainment. The primary objective was to process and analyze the BBC News dataset using machine learning models to achieve accurate and reliable categorization. The pipeline included data preprocessing, feature extraction, model training, and evaluation. This project demonstrates practical applications of text classification in real-world scenarios, such as media monitoring and content management. By automating categorization, organizations can efficiently manage large volumes of text data, identify trends, and support decision-making processes. The project also emphasizes the importance of robust model selection and evaluation to ensure consistent performance across diverse datasets.
</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778658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The dataset used for this project was the BBC News dataset, which consists of labeled news articles across five categories: business, tech, politics, sport, and entertainment. The training set included 1,490 rows, while the testing set contained 735 rows. Each record comprised an article ID, text content, and its corresponding category label. This dataset provided a balanced representation of different news domains, enabling the development of a classification model that generalizes well to unseen data. Proper preprocessing steps, such as tokenization, stop-word removal, and feature extraction using TF-IDF, were essential to prepare the text for machine learning algorithms. Understanding the dataset's structure and characteristics was critical for selecting appropriate models and evaluation metrics.
</a:t>
            </a:r>
          </a:p>
        </p:txBody>
      </p:sp>
      <p:sp>
        <p:nvSpPr>
          <p:cNvPr id="4" name="Slide Number Placeholder 3"/>
          <p:cNvSpPr>
            <a:spLocks noGrp="1"/>
          </p:cNvSpPr>
          <p:nvPr>
            <p:ph type="sldNum" sz="quarter" idx="5"/>
          </p:nvPr>
        </p:nvSpPr>
        <p:spPr/>
        <p:txBody>
          <a:bodyPr/>
          <a:lstStyle/>
          <a:p>
            <a:fld id="{28C6B470-179D-4B95-8906-D61C195EFD62}" type="slidenum">
              <a:rPr lang="en-US" smtClean="0"/>
              <a:t>4</a:t>
            </a:fld>
            <a:endParaRPr lang="en-US" dirty="0"/>
          </a:p>
        </p:txBody>
      </p:sp>
    </p:spTree>
    <p:extLst>
      <p:ext uri="{BB962C8B-B14F-4D97-AF65-F5344CB8AC3E}">
        <p14:creationId xmlns:p14="http://schemas.microsoft.com/office/powerpoint/2010/main" val="2872511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Models Evaluated, Performance Metrics and Results
</a:t>
            </a:r>
          </a:p>
        </p:txBody>
      </p:sp>
      <p:sp>
        <p:nvSpPr>
          <p:cNvPr id="4" name="Slide Number Placeholder 3"/>
          <p:cNvSpPr>
            <a:spLocks noGrp="1"/>
          </p:cNvSpPr>
          <p:nvPr>
            <p:ph type="sldNum" sz="quarter" idx="5"/>
          </p:nvPr>
        </p:nvSpPr>
        <p:spPr/>
        <p:txBody>
          <a:bodyPr/>
          <a:lstStyle/>
          <a:p>
            <a:fld id="{28C6B470-179D-4B95-8906-D61C195EFD62}" type="slidenum">
              <a:rPr lang="en-US" smtClean="0"/>
              <a:t>5</a:t>
            </a:fld>
            <a:endParaRPr lang="en-US" dirty="0"/>
          </a:p>
        </p:txBody>
      </p:sp>
    </p:spTree>
    <p:extLst>
      <p:ext uri="{BB962C8B-B14F-4D97-AF65-F5344CB8AC3E}">
        <p14:creationId xmlns:p14="http://schemas.microsoft.com/office/powerpoint/2010/main" val="2914264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Three machine learning models were evaluated for this project: Naive Bayes, Logistic Regression, and Support Vector Machine (SVM). Naive Bayes is a probabilistic classifier well-suited for text classification tasks due to its simplicity and efficiency. Logistic Regression, a linear model, is widely used for binary and multiclass classification problems and often performs well with high-dimensional data like text. SVM is a powerful algorithm that aims to find the optimal hyperplane for separating classes, but it can be computationally intensive and sensitive to parameter tuning. Comparing these models allowed the team to identify the most effective approach for categorizing BBC News articles based on accuracy and robustness.
</a:t>
            </a:r>
          </a:p>
        </p:txBody>
      </p:sp>
      <p:sp>
        <p:nvSpPr>
          <p:cNvPr id="4" name="Slide Number Placeholder 3"/>
          <p:cNvSpPr>
            <a:spLocks noGrp="1"/>
          </p:cNvSpPr>
          <p:nvPr>
            <p:ph type="sldNum" sz="quarter" idx="5"/>
          </p:nvPr>
        </p:nvSpPr>
        <p:spPr/>
        <p:txBody>
          <a:bodyPr/>
          <a:lstStyle/>
          <a:p>
            <a:fld id="{28C6B470-179D-4B95-8906-D61C195EFD62}" type="slidenum">
              <a:rPr lang="en-US" smtClean="0"/>
              <a:t>6</a:t>
            </a:fld>
            <a:endParaRPr lang="en-US" dirty="0"/>
          </a:p>
        </p:txBody>
      </p:sp>
    </p:spTree>
    <p:extLst>
      <p:ext uri="{BB962C8B-B14F-4D97-AF65-F5344CB8AC3E}">
        <p14:creationId xmlns:p14="http://schemas.microsoft.com/office/powerpoint/2010/main" val="41861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The evaluation focused on key performance metrics, including Test Accuracy, Cross-Validation Mean (CV Mean), and Cross-Validation Standard Deviation (CV Std). Naive Bayes achieved the highest Test Accuracy at 0.7215, but its low CV Mean of 0.4740 and high standard deviation indicated potential overfitting and inconsistency. Logistic Regression delivered a slightly lower Test Accuracy of 0.7148 but demonstrated superior robustness with a CV Mean of 0.7567 and a low standard deviation of 0.0313, making it the most reliable model for future predictions. SVM performed poorly, with a Test Accuracy of 0.3557 and CV Mean of 0.3574, suggesting it was unsuitable for this dataset. These results highlight the importance of considering both accuracy and consistency when selecting models for text classification tasks.
</a:t>
            </a:r>
          </a:p>
        </p:txBody>
      </p:sp>
      <p:sp>
        <p:nvSpPr>
          <p:cNvPr id="4" name="Slide Number Placeholder 3"/>
          <p:cNvSpPr>
            <a:spLocks noGrp="1"/>
          </p:cNvSpPr>
          <p:nvPr>
            <p:ph type="sldNum" sz="quarter" idx="5"/>
          </p:nvPr>
        </p:nvSpPr>
        <p:spPr/>
        <p:txBody>
          <a:bodyPr/>
          <a:lstStyle/>
          <a:p>
            <a:fld id="{28C6B470-179D-4B95-8906-D61C195EFD62}" type="slidenum">
              <a:rPr lang="en-US" smtClean="0"/>
              <a:t>7</a:t>
            </a:fld>
            <a:endParaRPr lang="en-US" dirty="0"/>
          </a:p>
        </p:txBody>
      </p:sp>
    </p:spTree>
    <p:extLst>
      <p:ext uri="{BB962C8B-B14F-4D97-AF65-F5344CB8AC3E}">
        <p14:creationId xmlns:p14="http://schemas.microsoft.com/office/powerpoint/2010/main" val="864901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Challenges and Applications, Ethical Considerations and Future Learning
</a:t>
            </a:r>
          </a:p>
        </p:txBody>
      </p:sp>
      <p:sp>
        <p:nvSpPr>
          <p:cNvPr id="4" name="Slide Number Placeholder 3"/>
          <p:cNvSpPr>
            <a:spLocks noGrp="1"/>
          </p:cNvSpPr>
          <p:nvPr>
            <p:ph type="sldNum" sz="quarter" idx="5"/>
          </p:nvPr>
        </p:nvSpPr>
        <p:spPr/>
        <p:txBody>
          <a:bodyPr/>
          <a:lstStyle/>
          <a:p>
            <a:fld id="{28C6B470-179D-4B95-8906-D61C195EFD62}" type="slidenum">
              <a:rPr lang="en-US" smtClean="0"/>
              <a:t>8</a:t>
            </a:fld>
            <a:endParaRPr lang="en-US" dirty="0"/>
          </a:p>
        </p:txBody>
      </p:sp>
    </p:spTree>
    <p:extLst>
      <p:ext uri="{BB962C8B-B14F-4D97-AF65-F5344CB8AC3E}">
        <p14:creationId xmlns:p14="http://schemas.microsoft.com/office/powerpoint/2010/main" val="4150074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The project presented several technical challenges, particularly in integrating different NLP libraries and ensuring compatibility across various data processing steps. Combining diverse outputs such as sentiment scores, TF-IDF features, and entity lists required careful data handling and structuring. Despite these challenges, the system has significant real-world applications in media monitoring, content management, and business intelligence. Automating news categorization can help organizations manage large volumes of text efficiently, identify key information, and gauge public sentiment. These capabilities are valuable for decision-making and strategic planning in industries that rely on timely and accurate information.
</a:t>
            </a:r>
          </a:p>
        </p:txBody>
      </p:sp>
      <p:sp>
        <p:nvSpPr>
          <p:cNvPr id="4" name="Slide Number Placeholder 3"/>
          <p:cNvSpPr>
            <a:spLocks noGrp="1"/>
          </p:cNvSpPr>
          <p:nvPr>
            <p:ph type="sldNum" sz="quarter" idx="5"/>
          </p:nvPr>
        </p:nvSpPr>
        <p:spPr/>
        <p:txBody>
          <a:bodyPr/>
          <a:lstStyle/>
          <a:p>
            <a:fld id="{28C6B470-179D-4B95-8906-D61C195EFD62}" type="slidenum">
              <a:rPr lang="en-US" smtClean="0"/>
              <a:t>9</a:t>
            </a:fld>
            <a:endParaRPr lang="en-US" dirty="0"/>
          </a:p>
        </p:txBody>
      </p:sp>
    </p:spTree>
    <p:extLst>
      <p:ext uri="{BB962C8B-B14F-4D97-AF65-F5344CB8AC3E}">
        <p14:creationId xmlns:p14="http://schemas.microsoft.com/office/powerpoint/2010/main" val="2684215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Ethical considerations were an important aspect of this project. Potential risks include algorithmic bias in classification, privacy concerns related to entity extraction, and misuse in generating or analyzing misinformation. Addressing these issues requires transparency, fairness, and accountability in model development and deployment. Future learning goals include exploring advanced techniques such as Topic Modeling (LDA), implementing deep learning models like Transformers and BERT, and investigating methods for understanding causal relationships in text. Additionally, improving collaboration through consistent code reviews and effective communication will remain a priority for successful project execution.
</a:t>
            </a:r>
          </a:p>
        </p:txBody>
      </p:sp>
      <p:sp>
        <p:nvSpPr>
          <p:cNvPr id="4" name="Slide Number Placeholder 3"/>
          <p:cNvSpPr>
            <a:spLocks noGrp="1"/>
          </p:cNvSpPr>
          <p:nvPr>
            <p:ph type="sldNum" sz="quarter" idx="5"/>
          </p:nvPr>
        </p:nvSpPr>
        <p:spPr/>
        <p:txBody>
          <a:bodyPr/>
          <a:lstStyle/>
          <a:p>
            <a:fld id="{28C6B470-179D-4B95-8906-D61C195EFD62}" type="slidenum">
              <a:rPr lang="en-US" smtClean="0"/>
              <a:t>10</a:t>
            </a:fld>
            <a:endParaRPr lang="en-US" dirty="0"/>
          </a:p>
        </p:txBody>
      </p:sp>
    </p:spTree>
    <p:extLst>
      <p:ext uri="{BB962C8B-B14F-4D97-AF65-F5344CB8AC3E}">
        <p14:creationId xmlns:p14="http://schemas.microsoft.com/office/powerpoint/2010/main" val="1636055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Summary and Closing Remarks
</a:t>
            </a:r>
          </a:p>
        </p:txBody>
      </p:sp>
      <p:sp>
        <p:nvSpPr>
          <p:cNvPr id="4" name="Slide Number Placeholder 3"/>
          <p:cNvSpPr>
            <a:spLocks noGrp="1"/>
          </p:cNvSpPr>
          <p:nvPr>
            <p:ph type="sldNum" sz="quarter" idx="5"/>
          </p:nvPr>
        </p:nvSpPr>
        <p:spPr/>
        <p:txBody>
          <a:bodyPr/>
          <a:lstStyle/>
          <a:p>
            <a:fld id="{28C6B470-179D-4B95-8906-D61C195EFD62}" type="slidenum">
              <a:rPr lang="en-US" smtClean="0"/>
              <a:t>11</a:t>
            </a:fld>
            <a:endParaRPr lang="en-US" dirty="0"/>
          </a:p>
        </p:txBody>
      </p:sp>
    </p:spTree>
    <p:extLst>
      <p:ext uri="{BB962C8B-B14F-4D97-AF65-F5344CB8AC3E}">
        <p14:creationId xmlns:p14="http://schemas.microsoft.com/office/powerpoint/2010/main" val="3414938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https://gracechurchlive-my.sharepoint.com/personal/adaza_grace_one/Documents/Microsoft%20Copilot%20Chat%20Files/MT_PT_Andres%20Daza%20Catano%20%26%20Taki%20Boubekri_ITAI2373.pdf
The BBC News Categorization Analysis project successfully demonstrated the application of machine learning techniques to text classification tasks. Logistic Regression emerged as the most robust model, balancing accuracy and consistency, while Naive Bayes showed potential but lacked reliability. SVM was unsuitable for this dataset. The project highlighted key challenges in data integration, ethical considerations, and the importance of model evaluation. Future improvements will focus on advanced NLP techniques and deep learning models to enhance performance. Overall, this work underscores the value of combining technical rigor with ethical responsibility in developing AI systems for real-world applications.
</a:t>
            </a:r>
          </a:p>
        </p:txBody>
      </p:sp>
      <p:sp>
        <p:nvSpPr>
          <p:cNvPr id="4" name="Slide Number Placeholder 3"/>
          <p:cNvSpPr>
            <a:spLocks noGrp="1"/>
          </p:cNvSpPr>
          <p:nvPr>
            <p:ph type="sldNum" sz="quarter" idx="5"/>
          </p:nvPr>
        </p:nvSpPr>
        <p:spPr/>
        <p:txBody>
          <a:bodyPr/>
          <a:lstStyle/>
          <a:p>
            <a:fld id="{28C6B470-179D-4B95-8906-D61C195EFD62}" type="slidenum">
              <a:rPr lang="en-US" smtClean="0"/>
              <a:t>12</a:t>
            </a:fld>
            <a:endParaRPr lang="en-US" dirty="0"/>
          </a:p>
        </p:txBody>
      </p:sp>
    </p:spTree>
    <p:extLst>
      <p:ext uri="{BB962C8B-B14F-4D97-AF65-F5344CB8AC3E}">
        <p14:creationId xmlns:p14="http://schemas.microsoft.com/office/powerpoint/2010/main" val="3772938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601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48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7578674-8064-3B2C-DA7F-7E3D0B7E90DB}"/>
              </a:ext>
            </a:extLst>
          </p:cNvPr>
          <p:cNvSpPr>
            <a:spLocks noGrp="1"/>
          </p:cNvSpPr>
          <p:nvPr>
            <p:ph type="ctrTitle"/>
          </p:nvPr>
        </p:nvSpPr>
        <p:spPr>
          <a:xfrm>
            <a:off x="1088136" y="1095763"/>
            <a:ext cx="9598152" cy="4144566"/>
          </a:xfr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10" name="Subtitle 2">
            <a:extLst>
              <a:ext uri="{FF2B5EF4-FFF2-40B4-BE49-F238E27FC236}">
                <a16:creationId xmlns:a16="http://schemas.microsoft.com/office/drawing/2014/main" id="{9DABABE3-CA0A-1CAB-38CF-F3A5729B7D41}"/>
              </a:ext>
            </a:extLst>
          </p:cNvPr>
          <p:cNvSpPr>
            <a:spLocks noGrp="1"/>
          </p:cNvSpPr>
          <p:nvPr>
            <p:ph type="subTitle" idx="1"/>
          </p:nvPr>
        </p:nvSpPr>
        <p:spPr>
          <a:xfrm>
            <a:off x="1088136" y="5240329"/>
            <a:ext cx="7769354" cy="101239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CDFFF1FC-CDE9-3B47-D073-3394D4D035A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76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BFF047-7A6B-BC21-B7D8-F250A7B5AD52}"/>
              </a:ext>
            </a:extLst>
          </p:cNvPr>
          <p:cNvSpPr>
            <a:spLocks noGrp="1"/>
          </p:cNvSpPr>
          <p:nvPr>
            <p:ph type="title"/>
          </p:nvPr>
        </p:nvSpPr>
        <p:spPr>
          <a:xfrm>
            <a:off x="1088136" y="1689380"/>
            <a:ext cx="7876287" cy="3614139"/>
          </a:xfrm>
        </p:spPr>
        <p:txBody>
          <a:bodyPr anchor="b">
            <a:noAutofit/>
          </a:bodyPr>
          <a:lstStyle>
            <a:lvl1pPr>
              <a:defRPr sz="6000"/>
            </a:lvl1pPr>
          </a:lstStyle>
          <a:p>
            <a:r>
              <a:rPr lang="en-US" dirty="0"/>
              <a:t>Click to edit Master title style</a:t>
            </a:r>
          </a:p>
        </p:txBody>
      </p:sp>
      <p:sp>
        <p:nvSpPr>
          <p:cNvPr id="14" name="Subtitle 2">
            <a:extLst>
              <a:ext uri="{FF2B5EF4-FFF2-40B4-BE49-F238E27FC236}">
                <a16:creationId xmlns:a16="http://schemas.microsoft.com/office/drawing/2014/main" id="{31F9B6D5-1061-6B04-A4A3-7F71A879F11E}"/>
              </a:ext>
            </a:extLst>
          </p:cNvPr>
          <p:cNvSpPr>
            <a:spLocks noGrp="1"/>
          </p:cNvSpPr>
          <p:nvPr>
            <p:ph type="subTitle" idx="1"/>
          </p:nvPr>
        </p:nvSpPr>
        <p:spPr>
          <a:xfrm>
            <a:off x="1088136" y="5306113"/>
            <a:ext cx="7375466" cy="1012390"/>
          </a:xfrm>
        </p:spPr>
        <p:txBody>
          <a:bodyPr vert="horz" lIns="91440" tIns="45720" rIns="91440" bIns="45720" rtlCol="0" anchor="t">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9" name="Footer Placeholder 8">
            <a:extLst>
              <a:ext uri="{FF2B5EF4-FFF2-40B4-BE49-F238E27FC236}">
                <a16:creationId xmlns:a16="http://schemas.microsoft.com/office/drawing/2014/main" id="{6099C91B-9803-3812-63A6-5705DB9FE95D}"/>
              </a:ext>
            </a:extLst>
          </p:cNvPr>
          <p:cNvSpPr>
            <a:spLocks noGrp="1"/>
          </p:cNvSpPr>
          <p:nvPr>
            <p:ph type="ftr" sz="quarter" idx="11"/>
          </p:nvPr>
        </p:nvSpPr>
        <p:spPr/>
        <p:txBody>
          <a:bodyPr/>
          <a:lstStyle/>
          <a:p>
            <a:endParaRPr lang="en-US" dirty="0"/>
          </a:p>
        </p:txBody>
      </p:sp>
      <p:sp>
        <p:nvSpPr>
          <p:cNvPr id="8" name="Date Placeholder 7">
            <a:extLst>
              <a:ext uri="{FF2B5EF4-FFF2-40B4-BE49-F238E27FC236}">
                <a16:creationId xmlns:a16="http://schemas.microsoft.com/office/drawing/2014/main" id="{12DA3032-68CE-D997-667C-4C5C01E418A6}"/>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10" name="Slide Number Placeholder 9">
            <a:extLst>
              <a:ext uri="{FF2B5EF4-FFF2-40B4-BE49-F238E27FC236}">
                <a16:creationId xmlns:a16="http://schemas.microsoft.com/office/drawing/2014/main" id="{FC835D02-A0E8-5346-DE23-09C497D78BD1}"/>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4" name="Straight Connector 3">
            <a:extLst>
              <a:ext uri="{FF2B5EF4-FFF2-40B4-BE49-F238E27FC236}">
                <a16:creationId xmlns:a16="http://schemas.microsoft.com/office/drawing/2014/main" id="{C99E3101-0B78-A7AE-A693-73443263EEC8}"/>
              </a:ext>
              <a:ext uri="{C183D7F6-B498-43B3-948B-1728B52AA6E4}">
                <adec:decorative xmlns:adec="http://schemas.microsoft.com/office/drawing/2017/decorative" val="1"/>
              </a:ext>
            </a:extLst>
          </p:cNvPr>
          <p:cNvCxnSpPr>
            <a:cxnSpLocks/>
          </p:cNvCxnSpPr>
          <p:nvPr userDrawn="1"/>
        </p:nvCxnSpPr>
        <p:spPr>
          <a:xfrm>
            <a:off x="-6626" y="49654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67491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C3FE82-1C77-7EDF-A1CD-DB107F252AE3}"/>
              </a:ext>
            </a:extLst>
          </p:cNvPr>
          <p:cNvSpPr>
            <a:spLocks noGrp="1"/>
          </p:cNvSpPr>
          <p:nvPr>
            <p:ph type="title"/>
          </p:nvPr>
        </p:nvSpPr>
        <p:spPr>
          <a:xfrm>
            <a:off x="1088136" y="1090244"/>
            <a:ext cx="10058400" cy="4021243"/>
          </a:xfrm>
        </p:spPr>
        <p:txBody>
          <a:bodyPr>
            <a:normAutofit/>
          </a:bodyPr>
          <a:lstStyle>
            <a:lvl1pPr>
              <a:defRPr sz="8000"/>
            </a:lvl1pPr>
          </a:lstStyle>
          <a:p>
            <a:r>
              <a:rPr lang="en-US"/>
              <a:t>Click to edit Master 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708D0FD-E68E-587F-ED5A-5140B6EE7F7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65DB91C7-3013-1F4E-D55F-37E24A2C6878}"/>
              </a:ext>
            </a:extLst>
          </p:cNvPr>
          <p:cNvSpPr>
            <a:spLocks noGrp="1"/>
          </p:cNvSpPr>
          <p:nvPr>
            <p:ph type="subTitle" idx="1"/>
          </p:nvPr>
        </p:nvSpPr>
        <p:spPr>
          <a:xfrm>
            <a:off x="1088136" y="5360878"/>
            <a:ext cx="10015728" cy="566928"/>
          </a:xfrm>
        </p:spPr>
        <p:txBody>
          <a:bodyPr vert="horz" lIns="91440" tIns="45720" rIns="91440" bIns="45720" rtlCol="0" anchor="b">
            <a:normAutofit/>
          </a:bodyPr>
          <a:lstStyle>
            <a:lvl1pPr marL="0" indent="0" algn="r">
              <a:lnSpc>
                <a:spcPct val="100000"/>
              </a:lnSpc>
              <a:buNone/>
              <a:defRPr lang="en-US" sz="2000" dirty="0"/>
            </a:lvl1pPr>
          </a:lstStyle>
          <a:p>
            <a:pPr lvl="0"/>
            <a:r>
              <a:rPr lang="en-US" dirty="0"/>
              <a:t>Click to edit Master subtitle style</a:t>
            </a:r>
          </a:p>
        </p:txBody>
      </p:sp>
    </p:spTree>
    <p:extLst>
      <p:ext uri="{BB962C8B-B14F-4D97-AF65-F5344CB8AC3E}">
        <p14:creationId xmlns:p14="http://schemas.microsoft.com/office/powerpoint/2010/main" val="392361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708609-7047-A87D-944D-1FAA546F3CE0}"/>
              </a:ext>
            </a:extLst>
          </p:cNvPr>
          <p:cNvSpPr>
            <a:spLocks noGrp="1"/>
          </p:cNvSpPr>
          <p:nvPr>
            <p:ph type="title"/>
          </p:nvPr>
        </p:nvSpPr>
        <p:spPr>
          <a:xfrm>
            <a:off x="82296" y="64007"/>
            <a:ext cx="12015216" cy="5120639"/>
          </a:xfrm>
        </p:spPr>
        <p:txBody>
          <a:bodyPr>
            <a:normAutofit/>
          </a:bodyPr>
          <a:lstStyle>
            <a:lvl1pPr>
              <a:defRPr sz="11500"/>
            </a:lvl1pPr>
          </a:lstStyle>
          <a:p>
            <a:r>
              <a:rPr lang="en-US"/>
              <a:t>Click to edit Master title style</a:t>
            </a:r>
          </a:p>
        </p:txBody>
      </p:sp>
      <p:sp>
        <p:nvSpPr>
          <p:cNvPr id="9" name="Subtitle 2">
            <a:extLst>
              <a:ext uri="{FF2B5EF4-FFF2-40B4-BE49-F238E27FC236}">
                <a16:creationId xmlns:a16="http://schemas.microsoft.com/office/drawing/2014/main" id="{83B55518-9256-4E26-0E87-88DBBA9A4404}"/>
              </a:ext>
            </a:extLst>
          </p:cNvPr>
          <p:cNvSpPr>
            <a:spLocks noGrp="1"/>
          </p:cNvSpPr>
          <p:nvPr>
            <p:ph type="subTitle" idx="1"/>
          </p:nvPr>
        </p:nvSpPr>
        <p:spPr>
          <a:xfrm>
            <a:off x="1088136" y="53481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12/2/25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dirty="0"/>
          </a:p>
        </p:txBody>
      </p:sp>
      <p:cxnSp>
        <p:nvCxnSpPr>
          <p:cNvPr id="8" name="Straight Connector 7">
            <a:extLst>
              <a:ext uri="{FF2B5EF4-FFF2-40B4-BE49-F238E27FC236}">
                <a16:creationId xmlns:a16="http://schemas.microsoft.com/office/drawing/2014/main" id="{C64158DF-756B-260C-69DA-D76C163B7274}"/>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49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6">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697EF66-DC3D-B2CA-7F76-8D8A7ED29968}"/>
              </a:ext>
            </a:extLst>
          </p:cNvPr>
          <p:cNvSpPr>
            <a:spLocks noGrp="1"/>
          </p:cNvSpPr>
          <p:nvPr>
            <p:ph type="title"/>
          </p:nvPr>
        </p:nvSpPr>
        <p:spPr>
          <a:xfrm>
            <a:off x="82296" y="64008"/>
            <a:ext cx="8229600" cy="2621154"/>
          </a:xfrm>
        </p:spPr>
        <p:txBody>
          <a:bodyPr>
            <a:noAutofit/>
          </a:bodyPr>
          <a:lstStyle>
            <a:lvl1pPr>
              <a:defRPr sz="6000"/>
            </a:lvl1pPr>
          </a:lstStyle>
          <a:p>
            <a:r>
              <a:rPr lang="en-US"/>
              <a:t>Click to edit Master title style</a:t>
            </a:r>
          </a:p>
        </p:txBody>
      </p:sp>
      <p:sp>
        <p:nvSpPr>
          <p:cNvPr id="13" name="Subtitle 2">
            <a:extLst>
              <a:ext uri="{FF2B5EF4-FFF2-40B4-BE49-F238E27FC236}">
                <a16:creationId xmlns:a16="http://schemas.microsoft.com/office/drawing/2014/main" id="{0F2A94AC-5C1C-CE45-09E9-C80B1B71FA27}"/>
              </a:ext>
            </a:extLst>
          </p:cNvPr>
          <p:cNvSpPr>
            <a:spLocks noGrp="1"/>
          </p:cNvSpPr>
          <p:nvPr>
            <p:ph type="subTitle" idx="1"/>
          </p:nvPr>
        </p:nvSpPr>
        <p:spPr>
          <a:xfrm>
            <a:off x="3513954" y="4431379"/>
            <a:ext cx="7611246" cy="1465254"/>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C2E6B14D-48CB-3652-5FBF-557B0DB0C006}"/>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188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userDrawn="1"/>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12/2/25</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9145764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8905" y="284481"/>
            <a:ext cx="4244009" cy="4320310"/>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08905" y="4827642"/>
            <a:ext cx="3916294" cy="1033669"/>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69670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08906" y="6438900"/>
            <a:ext cx="2351783"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80C9AB94-8F6E-3F2E-B012-AADB80E5486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2BA6CE1C-3B05-36AC-25B7-6050ED0CBE18}"/>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093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41739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1055" y="1111101"/>
            <a:ext cx="4179762" cy="3935983"/>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91688" y="5190622"/>
            <a:ext cx="4179762" cy="1095877"/>
          </a:xfrm>
        </p:spPr>
        <p:txBody>
          <a:bodyPr vert="horz" lIns="91440" tIns="45720" rIns="91440" bIns="45720" rtlCol="0" anchor="b">
            <a:normAutofit/>
          </a:bodyPr>
          <a:lstStyle>
            <a:lvl1pPr marL="0" indent="0">
              <a:lnSpc>
                <a:spcPct val="100000"/>
              </a:lnSpc>
              <a:buNone/>
              <a:defRPr lang="en-US" sz="1600" dirty="0"/>
            </a:lvl1pPr>
          </a:lstStyle>
          <a:p>
            <a:pPr lvl="0"/>
            <a:r>
              <a:rPr lang="en-US" dirty="0"/>
              <a:t>Click to edit Master subtitle style</a:t>
            </a:r>
          </a:p>
        </p:txBody>
      </p:sp>
      <p:cxnSp>
        <p:nvCxnSpPr>
          <p:cNvPr id="4" name="Straight Connector 3">
            <a:extLst>
              <a:ext uri="{FF2B5EF4-FFF2-40B4-BE49-F238E27FC236}">
                <a16:creationId xmlns:a16="http://schemas.microsoft.com/office/drawing/2014/main" id="{246DF655-18E5-0F01-A30A-A66220E09345}"/>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4B984BF6-8944-BCD9-907F-19E062A93E04}"/>
              </a:ext>
            </a:extLst>
          </p:cNvPr>
          <p:cNvSpPr>
            <a:spLocks noGrp="1"/>
          </p:cNvSpPr>
          <p:nvPr>
            <p:ph type="ftr" sz="quarter" idx="11"/>
          </p:nvPr>
        </p:nvSpPr>
        <p:spPr>
          <a:xfrm>
            <a:off x="1091689" y="6430037"/>
            <a:ext cx="2604618"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0A1EB0B-7080-C0FF-A599-2F24CE797B37}"/>
              </a:ext>
            </a:extLst>
          </p:cNvPr>
          <p:cNvSpPr>
            <a:spLocks noGrp="1"/>
          </p:cNvSpPr>
          <p:nvPr>
            <p:ph type="dt" sz="half" idx="15"/>
          </p:nvPr>
        </p:nvSpPr>
        <p:spPr>
          <a:xfrm>
            <a:off x="3786513" y="6430037"/>
            <a:ext cx="864704" cy="419100"/>
          </a:xfrm>
        </p:spPr>
        <p:txBody>
          <a:bodyPr/>
          <a:lstStyle/>
          <a:p>
            <a:fld id="{2ABAD28B-DD56-4B56-883A-96608C765E28}" type="datetimeFigureOut">
              <a:rPr lang="en-US" smtClean="0"/>
              <a:pPr/>
              <a:t>12/2/25</a:t>
            </a:fld>
            <a:endParaRPr lang="en-US" dirty="0"/>
          </a:p>
        </p:txBody>
      </p:sp>
      <p:sp>
        <p:nvSpPr>
          <p:cNvPr id="10" name="Slide Number Placeholder 5">
            <a:extLst>
              <a:ext uri="{FF2B5EF4-FFF2-40B4-BE49-F238E27FC236}">
                <a16:creationId xmlns:a16="http://schemas.microsoft.com/office/drawing/2014/main" id="{D9E47F5A-D737-9005-3896-E6383830C7E3}"/>
              </a:ext>
            </a:extLst>
          </p:cNvPr>
          <p:cNvSpPr>
            <a:spLocks noGrp="1"/>
          </p:cNvSpPr>
          <p:nvPr>
            <p:ph type="sldNum" sz="quarter" idx="12"/>
          </p:nvPr>
        </p:nvSpPr>
        <p:spPr>
          <a:xfrm>
            <a:off x="4659381" y="6430037"/>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00050" y="0"/>
            <a:ext cx="669195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220620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12/2/25</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778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12/2/25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217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12/2/25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418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587999" y="405240"/>
            <a:ext cx="5916508" cy="1819662"/>
          </a:xfrm>
        </p:spPr>
        <p:txBody>
          <a:bodyPr anchor="b">
            <a:normAutofit/>
          </a:bodyPr>
          <a:lstStyle>
            <a:lvl1pPr>
              <a:defRPr sz="80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481119"/>
            <a:ext cx="5916507" cy="3394364"/>
          </a:xfrm>
        </p:spPr>
        <p:txBody>
          <a:bodyPr anchor="b">
            <a:normAutofit/>
          </a:bodyPr>
          <a:lstStyle>
            <a:lvl1pPr marL="457200" indent="-457200">
              <a:lnSpc>
                <a:spcPct val="100000"/>
              </a:lnSpc>
              <a:buFont typeface="+mj-lt"/>
              <a:buAutoNum type="arabicPeriod"/>
              <a:defRPr sz="2000"/>
            </a:lvl1pPr>
            <a:lvl2pPr marL="571500" indent="-3429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AF50F4DE-D5C9-EDEE-A6C1-8053893B18C6}"/>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0E02C9ED-7E7F-43D6-3567-8A7D0DC86025}"/>
              </a:ext>
            </a:extLst>
          </p:cNvPr>
          <p:cNvSpPr>
            <a:spLocks noGrp="1"/>
          </p:cNvSpPr>
          <p:nvPr>
            <p:ph type="ftr" sz="quarter" idx="11"/>
          </p:nvPr>
        </p:nvSpPr>
        <p:spPr>
          <a:xfrm>
            <a:off x="5588000" y="6438900"/>
            <a:ext cx="3972690" cy="419100"/>
          </a:xfrm>
        </p:spPr>
        <p:txBody>
          <a:bodyPr/>
          <a:lstStyle/>
          <a:p>
            <a:r>
              <a:rPr lang="en-US" dirty="0"/>
              <a:t>Sample Footer Text</a:t>
            </a:r>
          </a:p>
        </p:txBody>
      </p:sp>
      <p:sp>
        <p:nvSpPr>
          <p:cNvPr id="13" name="Date Placeholder 4">
            <a:extLst>
              <a:ext uri="{FF2B5EF4-FFF2-40B4-BE49-F238E27FC236}">
                <a16:creationId xmlns:a16="http://schemas.microsoft.com/office/drawing/2014/main" id="{94369780-1787-623B-A3F0-C72DED32992F}"/>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14" name="Slide Number Placeholder 5">
            <a:extLst>
              <a:ext uri="{FF2B5EF4-FFF2-40B4-BE49-F238E27FC236}">
                <a16:creationId xmlns:a16="http://schemas.microsoft.com/office/drawing/2014/main" id="{B9B34B61-93E0-16E5-3DE1-0085D9CB4486}"/>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55361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A8E2B0F-68B7-6425-620F-3E3285F51A3E}"/>
              </a:ext>
            </a:extLst>
          </p:cNvPr>
          <p:cNvSpPr>
            <a:spLocks noGrp="1"/>
          </p:cNvSpPr>
          <p:nvPr>
            <p:ph type="title"/>
          </p:nvPr>
        </p:nvSpPr>
        <p:spPr>
          <a:xfrm>
            <a:off x="1088136" y="1090244"/>
            <a:ext cx="4659277" cy="16698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F2BB16B-437E-D6AB-E317-2BE63ABCB1E0}"/>
              </a:ext>
            </a:extLst>
          </p:cNvPr>
          <p:cNvSpPr>
            <a:spLocks noGrp="1"/>
          </p:cNvSpPr>
          <p:nvPr>
            <p:ph sz="quarter" idx="14"/>
          </p:nvPr>
        </p:nvSpPr>
        <p:spPr>
          <a:xfrm>
            <a:off x="6444588" y="1090244"/>
            <a:ext cx="4680612" cy="1670050"/>
          </a:xfrm>
        </p:spPr>
        <p:txBody>
          <a:bodyPr/>
          <a:lstStyle>
            <a:lvl1pPr>
              <a:lnSpc>
                <a:spcPct val="100000"/>
              </a:lnSpc>
              <a:buFontTx/>
              <a:buNone/>
              <a:defRPr baseline="0"/>
            </a:lvl1pPr>
            <a:lvl2pPr marL="228600" indent="0">
              <a:lnSpc>
                <a:spcPct val="100000"/>
              </a:lnSpc>
              <a:buFontTx/>
              <a:buNone/>
              <a:defRPr baseline="0"/>
            </a:lvl2pPr>
            <a:lvl3pPr marL="457200" indent="0">
              <a:lnSpc>
                <a:spcPct val="100000"/>
              </a:lnSpc>
              <a:buFontTx/>
              <a:buNone/>
              <a:defRPr baseline="0"/>
            </a:lvl3pPr>
            <a:lvl4pPr marL="685800" indent="0">
              <a:lnSpc>
                <a:spcPct val="100000"/>
              </a:lnSpc>
              <a:buFontTx/>
              <a:buNone/>
              <a:defRPr baseline="0"/>
            </a:lvl4pPr>
            <a:lvl5pPr marL="914400" indent="0">
              <a:lnSpc>
                <a:spcPct val="100000"/>
              </a:lnSpc>
              <a:buFontTx/>
              <a:buNone/>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66FBA52A-0B44-31D0-A581-D65241A30F6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413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4938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263141" y="1115290"/>
            <a:ext cx="5862059" cy="346121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28C9ED00-129A-337D-199B-933973FFF6B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1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471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5733" y="1119386"/>
            <a:ext cx="3496147" cy="4940661"/>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63418" y="1119386"/>
            <a:ext cx="6242849" cy="4940661"/>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17C024E-BDA9-596A-880A-BD5A17F5C7F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6072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12/2/25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412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dirty="0"/>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31919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780" y="1111101"/>
            <a:ext cx="6339541" cy="114300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90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E94E29EC-6D85-E8CA-F571-29C29779804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91F623F8-148C-BF68-DC1B-B1261EF2B177}"/>
              </a:ext>
            </a:extLst>
          </p:cNvPr>
          <p:cNvSpPr>
            <a:spLocks noGrp="1"/>
          </p:cNvSpPr>
          <p:nvPr>
            <p:ph type="ftr" sz="quarter" idx="11"/>
          </p:nvPr>
        </p:nvSpPr>
        <p:spPr>
          <a:xfrm>
            <a:off x="1097781" y="6438900"/>
            <a:ext cx="4775030" cy="419100"/>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F4339383-0924-E735-8737-2CFD7A1D40E9}"/>
              </a:ext>
            </a:extLst>
          </p:cNvPr>
          <p:cNvSpPr>
            <a:spLocks noGrp="1"/>
          </p:cNvSpPr>
          <p:nvPr>
            <p:ph type="dt" sz="half" idx="15"/>
          </p:nvPr>
        </p:nvSpPr>
        <p:spPr>
          <a:xfrm>
            <a:off x="5963017" y="6438900"/>
            <a:ext cx="864704" cy="419100"/>
          </a:xfrm>
        </p:spPr>
        <p:txBody>
          <a:bodyPr/>
          <a:lstStyle/>
          <a:p>
            <a:fld id="{2ABAD28B-DD56-4B56-883A-96608C765E28}" type="datetimeFigureOut">
              <a:rPr lang="en-US" smtClean="0"/>
              <a:pPr/>
              <a:t>12/2/25</a:t>
            </a:fld>
            <a:endParaRPr lang="en-US" dirty="0"/>
          </a:p>
        </p:txBody>
      </p:sp>
      <p:sp>
        <p:nvSpPr>
          <p:cNvPr id="6" name="Slide Number Placeholder 5">
            <a:extLst>
              <a:ext uri="{FF2B5EF4-FFF2-40B4-BE49-F238E27FC236}">
                <a16:creationId xmlns:a16="http://schemas.microsoft.com/office/drawing/2014/main" id="{92279924-70A9-325D-5C94-812F304840DB}"/>
              </a:ext>
            </a:extLst>
          </p:cNvPr>
          <p:cNvSpPr>
            <a:spLocks noGrp="1"/>
          </p:cNvSpPr>
          <p:nvPr>
            <p:ph type="sldNum" sz="quarter" idx="12"/>
          </p:nvPr>
        </p:nvSpPr>
        <p:spPr>
          <a:xfrm>
            <a:off x="683588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85414"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0498344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204964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smtClean="0"/>
              <a:pPr/>
              <a:t>12/2/25</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523332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86751" y="1115736"/>
            <a:ext cx="4738450" cy="1283986"/>
          </a:xfrm>
        </p:spPr>
        <p:txBody>
          <a:bodyPr anchor="t">
            <a:norm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F01DFFF1-3C5B-AB29-A606-DE5652872224}"/>
              </a:ext>
            </a:extLst>
          </p:cNvPr>
          <p:cNvSpPr>
            <a:spLocks noGrp="1"/>
          </p:cNvSpPr>
          <p:nvPr>
            <p:ph type="pic" sz="quarter" idx="13" hasCustomPrompt="1"/>
          </p:nvPr>
        </p:nvSpPr>
        <p:spPr>
          <a:xfrm>
            <a:off x="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E2816D63-0E0C-C808-4BF8-6A562C18459A}"/>
              </a:ext>
            </a:extLst>
          </p:cNvPr>
          <p:cNvSpPr>
            <a:spLocks noGrp="1"/>
          </p:cNvSpPr>
          <p:nvPr>
            <p:ph sz="quarter" idx="15"/>
          </p:nvPr>
        </p:nvSpPr>
        <p:spPr>
          <a:xfrm>
            <a:off x="6386751" y="2552124"/>
            <a:ext cx="4738450" cy="3734376"/>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04FCA30A-9E9D-9618-76A9-8B4CFF8E32FB}"/>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536C1912-E3D3-9A9F-E1CD-E0E6FFC247FA}"/>
              </a:ext>
            </a:extLst>
          </p:cNvPr>
          <p:cNvSpPr>
            <a:spLocks noGrp="1"/>
          </p:cNvSpPr>
          <p:nvPr>
            <p:ph type="ftr" sz="quarter" idx="11"/>
          </p:nvPr>
        </p:nvSpPr>
        <p:spPr>
          <a:xfrm>
            <a:off x="6386752" y="6438900"/>
            <a:ext cx="3173938" cy="419100"/>
          </a:xfrm>
        </p:spPr>
        <p:txBody>
          <a:bodyPr/>
          <a:lstStyle/>
          <a:p>
            <a:r>
              <a:rPr lang="en-US"/>
              <a:t>Sample Footer Text</a:t>
            </a:r>
            <a:endParaRPr lang="en-US" dirty="0"/>
          </a:p>
        </p:txBody>
      </p:sp>
      <p:sp>
        <p:nvSpPr>
          <p:cNvPr id="4" name="Date Placeholder 4">
            <a:extLst>
              <a:ext uri="{FF2B5EF4-FFF2-40B4-BE49-F238E27FC236}">
                <a16:creationId xmlns:a16="http://schemas.microsoft.com/office/drawing/2014/main" id="{8D67CAFB-8059-63E5-52A8-1184092A0F3D}"/>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8" name="Slide Number Placeholder 5">
            <a:extLst>
              <a:ext uri="{FF2B5EF4-FFF2-40B4-BE49-F238E27FC236}">
                <a16:creationId xmlns:a16="http://schemas.microsoft.com/office/drawing/2014/main" id="{12D5E22B-CB25-9948-A8AA-BACF7E422F0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8232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dirty="0"/>
              <a:t>Sample Footer Text</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smtClean="0"/>
              <a:pPr/>
              <a:t>12/2/25</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8302217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1355" y="1111101"/>
            <a:ext cx="3813845" cy="1493861"/>
          </a:xfrm>
        </p:spPr>
        <p:txBody>
          <a:bodyPr anchor="t">
            <a:normAutofit/>
          </a:bodyPr>
          <a:lstStyle>
            <a:lvl1pPr>
              <a:defRPr sz="3600"/>
            </a:lvl1pPr>
          </a:lstStyle>
          <a:p>
            <a:r>
              <a:rPr lang="en-US" dirty="0"/>
              <a:t>Click to edit Master title style</a:t>
            </a:r>
          </a:p>
        </p:txBody>
      </p:sp>
      <p:sp>
        <p:nvSpPr>
          <p:cNvPr id="5" name="Picture Placeholder 10">
            <a:extLst>
              <a:ext uri="{FF2B5EF4-FFF2-40B4-BE49-F238E27FC236}">
                <a16:creationId xmlns:a16="http://schemas.microsoft.com/office/drawing/2014/main" id="{F6B569F2-50A1-6E37-5081-6843927083F0}"/>
              </a:ext>
            </a:extLst>
          </p:cNvPr>
          <p:cNvSpPr>
            <a:spLocks noGrp="1"/>
          </p:cNvSpPr>
          <p:nvPr>
            <p:ph type="pic" sz="quarter" idx="13" hasCustomPrompt="1"/>
          </p:nvPr>
        </p:nvSpPr>
        <p:spPr>
          <a:xfrm>
            <a:off x="1219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7B790101-D67D-E697-E691-37D8E802AC85}"/>
              </a:ext>
            </a:extLst>
          </p:cNvPr>
          <p:cNvSpPr>
            <a:spLocks noGrp="1"/>
          </p:cNvSpPr>
          <p:nvPr>
            <p:ph sz="quarter" idx="18"/>
          </p:nvPr>
        </p:nvSpPr>
        <p:spPr>
          <a:xfrm>
            <a:off x="7311355"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4F1FBBF-D97E-831B-C809-27FFA216026F}"/>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456D6AD1-4AB5-D3E4-10D2-9E53DB2CC8EA}"/>
              </a:ext>
            </a:extLst>
          </p:cNvPr>
          <p:cNvSpPr>
            <a:spLocks noGrp="1"/>
          </p:cNvSpPr>
          <p:nvPr>
            <p:ph type="ftr" sz="quarter" idx="11"/>
          </p:nvPr>
        </p:nvSpPr>
        <p:spPr>
          <a:xfrm>
            <a:off x="7311355" y="6438900"/>
            <a:ext cx="2249334"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9760FBEC-EA46-6A15-284D-4BBD1E04A1B4}"/>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11" name="Slide Number Placeholder 5">
            <a:extLst>
              <a:ext uri="{FF2B5EF4-FFF2-40B4-BE49-F238E27FC236}">
                <a16:creationId xmlns:a16="http://schemas.microsoft.com/office/drawing/2014/main" id="{919DC249-6449-71C0-F0A2-E5A28E550CB0}"/>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39722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12/2/25</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17045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dirty="0"/>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12/2/25</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379109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1746" y="1112431"/>
            <a:ext cx="3230992" cy="1858941"/>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092741"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DC26608-3419-7FD3-1CD3-EB1EF597746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2FF5E252-7CD5-70EF-A3E5-C079B418EA8A}"/>
              </a:ext>
            </a:extLst>
          </p:cNvPr>
          <p:cNvSpPr>
            <a:spLocks noGrp="1"/>
          </p:cNvSpPr>
          <p:nvPr>
            <p:ph type="ftr" sz="quarter" idx="11"/>
          </p:nvPr>
        </p:nvSpPr>
        <p:spPr>
          <a:xfrm>
            <a:off x="1091746" y="6438900"/>
            <a:ext cx="1656002"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7204A7B0-14BD-7B7E-62AF-3685F9B4BFEF}"/>
              </a:ext>
            </a:extLst>
          </p:cNvPr>
          <p:cNvSpPr>
            <a:spLocks noGrp="1"/>
          </p:cNvSpPr>
          <p:nvPr>
            <p:ph type="dt" sz="half" idx="15"/>
          </p:nvPr>
        </p:nvSpPr>
        <p:spPr>
          <a:xfrm>
            <a:off x="2837954" y="6438900"/>
            <a:ext cx="864704" cy="419100"/>
          </a:xfrm>
        </p:spPr>
        <p:txBody>
          <a:bodyPr/>
          <a:lstStyle/>
          <a:p>
            <a:fld id="{2ABAD28B-DD56-4B56-883A-96608C765E28}" type="datetimeFigureOut">
              <a:rPr lang="en-US" smtClean="0"/>
              <a:pPr/>
              <a:t>12/2/25</a:t>
            </a:fld>
            <a:endParaRPr lang="en-US" dirty="0"/>
          </a:p>
        </p:txBody>
      </p:sp>
      <p:sp>
        <p:nvSpPr>
          <p:cNvPr id="11" name="Slide Number Placeholder 5">
            <a:extLst>
              <a:ext uri="{FF2B5EF4-FFF2-40B4-BE49-F238E27FC236}">
                <a16:creationId xmlns:a16="http://schemas.microsoft.com/office/drawing/2014/main" id="{33A8D2A5-F36B-C5DD-6ABC-6D69A63EFD3E}"/>
              </a:ext>
            </a:extLst>
          </p:cNvPr>
          <p:cNvSpPr>
            <a:spLocks noGrp="1"/>
          </p:cNvSpPr>
          <p:nvPr>
            <p:ph type="sldNum" sz="quarter" idx="12"/>
          </p:nvPr>
        </p:nvSpPr>
        <p:spPr>
          <a:xfrm>
            <a:off x="3710822" y="6438900"/>
            <a:ext cx="601436" cy="419100"/>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710223"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492067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03132" y="4454843"/>
            <a:ext cx="2734129" cy="198882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6911"/>
            <a:ext cx="12192000" cy="413645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6199" y="4454843"/>
            <a:ext cx="7579766" cy="198882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CCF35F03-6B82-7805-3568-C459D0906B68}"/>
              </a:ext>
              <a:ext uri="{C183D7F6-B498-43B3-948B-1728B52AA6E4}">
                <adec:decorative xmlns:adec="http://schemas.microsoft.com/office/drawing/2017/decorative" val="1"/>
              </a:ext>
            </a:extLst>
          </p:cNvPr>
          <p:cNvCxnSpPr>
            <a:cxnSpLocks/>
          </p:cNvCxnSpPr>
          <p:nvPr userDrawn="1"/>
        </p:nvCxnSpPr>
        <p:spPr>
          <a:xfrm>
            <a:off x="0" y="456943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566ECED-4F66-9F69-9550-8AEE33E69132}"/>
              </a:ext>
            </a:extLst>
          </p:cNvPr>
          <p:cNvSpPr>
            <a:spLocks noGrp="1"/>
          </p:cNvSpPr>
          <p:nvPr>
            <p:ph type="dt" sz="half" idx="15"/>
          </p:nvPr>
        </p:nvSpPr>
        <p:spPr/>
        <p:txBody>
          <a:bodyPr/>
          <a:lstStyle/>
          <a:p>
            <a:fld id="{2ABAD28B-DD56-4B56-883A-96608C765E28}" type="datetimeFigureOut">
              <a:rPr lang="en-US" smtClean="0"/>
              <a:pPr/>
              <a:t>12/2/25</a:t>
            </a:fld>
            <a:endParaRPr lang="en-US" dirty="0"/>
          </a:p>
        </p:txBody>
      </p:sp>
      <p:sp>
        <p:nvSpPr>
          <p:cNvPr id="9" name="Footer Placeholder 8">
            <a:extLst>
              <a:ext uri="{FF2B5EF4-FFF2-40B4-BE49-F238E27FC236}">
                <a16:creationId xmlns:a16="http://schemas.microsoft.com/office/drawing/2014/main" id="{71D64763-04B8-333B-5679-3D29011ED739}"/>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6F9DBBC-106A-8C73-CFE2-A01128FF9A72}"/>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3103244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userDrawn="1"/>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smtClean="0"/>
              <a:pPr/>
              <a:t>12/2/25</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555388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305" y="1111141"/>
            <a:ext cx="3021873" cy="1926781"/>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4288" y="1033272"/>
            <a:ext cx="7188111" cy="2395728"/>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EACFAF5-0970-68B5-D05E-9879C8497D82}"/>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B78A30E2-3F57-8F47-602F-5C2276719499}"/>
              </a:ext>
            </a:extLst>
          </p:cNvPr>
          <p:cNvSpPr>
            <a:spLocks noGrp="1"/>
          </p:cNvSpPr>
          <p:nvPr>
            <p:ph type="ftr" sz="quarter" idx="16"/>
          </p:nvPr>
        </p:nvSpPr>
        <p:spPr>
          <a:xfrm>
            <a:off x="1088136" y="3498930"/>
            <a:ext cx="8562760" cy="419100"/>
          </a:xfrm>
        </p:spPr>
        <p:txBody>
          <a:bodyPr/>
          <a:lstStyle/>
          <a:p>
            <a:endParaRPr lang="en-US" dirty="0"/>
          </a:p>
        </p:txBody>
      </p:sp>
      <p:sp>
        <p:nvSpPr>
          <p:cNvPr id="3" name="Date Placeholder 2">
            <a:extLst>
              <a:ext uri="{FF2B5EF4-FFF2-40B4-BE49-F238E27FC236}">
                <a16:creationId xmlns:a16="http://schemas.microsoft.com/office/drawing/2014/main" id="{CAC29AEB-6392-7627-D3BB-B1FE7ADEE113}"/>
              </a:ext>
            </a:extLst>
          </p:cNvPr>
          <p:cNvSpPr>
            <a:spLocks noGrp="1"/>
          </p:cNvSpPr>
          <p:nvPr>
            <p:ph type="dt" sz="half" idx="15"/>
          </p:nvPr>
        </p:nvSpPr>
        <p:spPr>
          <a:xfrm>
            <a:off x="9650896" y="3498930"/>
            <a:ext cx="864704" cy="419100"/>
          </a:xfrm>
        </p:spPr>
        <p:txBody>
          <a:bodyPr/>
          <a:lstStyle/>
          <a:p>
            <a:fld id="{2ABAD28B-DD56-4B56-883A-96608C765E28}" type="datetimeFigureOut">
              <a:rPr lang="en-US" smtClean="0"/>
              <a:pPr/>
              <a:t>12/2/25</a:t>
            </a:fld>
            <a:endParaRPr lang="en-US" dirty="0"/>
          </a:p>
        </p:txBody>
      </p:sp>
      <p:sp>
        <p:nvSpPr>
          <p:cNvPr id="11" name="Slide Number Placeholder 10">
            <a:extLst>
              <a:ext uri="{FF2B5EF4-FFF2-40B4-BE49-F238E27FC236}">
                <a16:creationId xmlns:a16="http://schemas.microsoft.com/office/drawing/2014/main" id="{B5316922-C670-FE33-CD5C-8173F749255B}"/>
              </a:ext>
            </a:extLst>
          </p:cNvPr>
          <p:cNvSpPr>
            <a:spLocks noGrp="1"/>
          </p:cNvSpPr>
          <p:nvPr>
            <p:ph type="sldNum" sz="quarter" idx="17"/>
          </p:nvPr>
        </p:nvSpPr>
        <p:spPr>
          <a:xfrm>
            <a:off x="10523764" y="3498930"/>
            <a:ext cx="601436" cy="419100"/>
          </a:xfrm>
        </p:spPr>
        <p:txBody>
          <a:bodyPr/>
          <a:lstStyle/>
          <a:p>
            <a:fld id="{7DF5BAF5-ABAB-4575-8E56-D109A3D17F9F}" type="slidenum">
              <a:rPr lang="en-US" smtClean="0"/>
              <a:pPr/>
              <a:t>‹#›</a:t>
            </a:fld>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914863"/>
            <a:ext cx="12192000" cy="2943138"/>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57450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8DD8E17-974D-2F0F-D2EF-4321ADF69D7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5" name="Content Placeholder 7">
            <a:extLst>
              <a:ext uri="{FF2B5EF4-FFF2-40B4-BE49-F238E27FC236}">
                <a16:creationId xmlns:a16="http://schemas.microsoft.com/office/drawing/2014/main" id="{B30C58BE-F380-22BA-CA7C-FB2B96D78536}"/>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BF998679-00B4-E130-BD79-0313E0E76C5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71E0CB0C-BB20-9ACF-5731-283BD5D232EC}"/>
              </a:ext>
            </a:extLst>
          </p:cNvPr>
          <p:cNvSpPr>
            <a:spLocks noGrp="1"/>
          </p:cNvSpPr>
          <p:nvPr>
            <p:ph type="ftr" sz="quarter" idx="11"/>
          </p:nvPr>
        </p:nvSpPr>
        <p:spPr>
          <a:xfrm>
            <a:off x="1090941" y="6438900"/>
            <a:ext cx="3312004" cy="419100"/>
          </a:xfrm>
        </p:spPr>
        <p:txBody>
          <a:bodyPr/>
          <a:lstStyle/>
          <a:p>
            <a:r>
              <a:rPr lang="en-US"/>
              <a:t>Sample Footer Text</a:t>
            </a:r>
            <a:endParaRPr lang="en-US" dirty="0"/>
          </a:p>
        </p:txBody>
      </p:sp>
      <p:sp>
        <p:nvSpPr>
          <p:cNvPr id="3" name="Date Placeholder 4">
            <a:extLst>
              <a:ext uri="{FF2B5EF4-FFF2-40B4-BE49-F238E27FC236}">
                <a16:creationId xmlns:a16="http://schemas.microsoft.com/office/drawing/2014/main" id="{17475061-2831-1993-95F3-3031A57F1454}"/>
              </a:ext>
            </a:extLst>
          </p:cNvPr>
          <p:cNvSpPr>
            <a:spLocks noGrp="1"/>
          </p:cNvSpPr>
          <p:nvPr>
            <p:ph type="dt" sz="half" idx="15"/>
          </p:nvPr>
        </p:nvSpPr>
        <p:spPr>
          <a:xfrm>
            <a:off x="4493151" y="6438900"/>
            <a:ext cx="864704" cy="419100"/>
          </a:xfrm>
        </p:spPr>
        <p:txBody>
          <a:bodyPr/>
          <a:lstStyle/>
          <a:p>
            <a:fld id="{2ABAD28B-DD56-4B56-883A-96608C765E28}" type="datetimeFigureOut">
              <a:rPr lang="en-US" smtClean="0"/>
              <a:pPr/>
              <a:t>12/2/25</a:t>
            </a:fld>
            <a:endParaRPr lang="en-US" dirty="0"/>
          </a:p>
        </p:txBody>
      </p:sp>
      <p:sp>
        <p:nvSpPr>
          <p:cNvPr id="7" name="Slide Number Placeholder 5">
            <a:extLst>
              <a:ext uri="{FF2B5EF4-FFF2-40B4-BE49-F238E27FC236}">
                <a16:creationId xmlns:a16="http://schemas.microsoft.com/office/drawing/2014/main" id="{AA14588C-2112-9C19-7A4F-9706756316DE}"/>
              </a:ext>
            </a:extLst>
          </p:cNvPr>
          <p:cNvSpPr>
            <a:spLocks noGrp="1"/>
          </p:cNvSpPr>
          <p:nvPr>
            <p:ph type="sldNum" sz="quarter" idx="12"/>
          </p:nvPr>
        </p:nvSpPr>
        <p:spPr>
          <a:xfrm>
            <a:off x="5366019" y="6438900"/>
            <a:ext cx="601436" cy="419100"/>
          </a:xfrm>
        </p:spPr>
        <p:txBody>
          <a:bodyPr/>
          <a:lstStyle/>
          <a:p>
            <a:fld id="{AEAA3239-9EA4-4A65-A281-97F994456D9F}" type="slidenum">
              <a:rPr lang="en-US" smtClean="0"/>
              <a:t>‹#›</a:t>
            </a:fld>
            <a:endParaRPr lang="en-US"/>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6096000" y="2286008"/>
            <a:ext cx="6096000" cy="457199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32422115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C7A501-810E-43B8-6142-56CF2DD390A0}"/>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1" name="Content Placeholder 7">
            <a:extLst>
              <a:ext uri="{FF2B5EF4-FFF2-40B4-BE49-F238E27FC236}">
                <a16:creationId xmlns:a16="http://schemas.microsoft.com/office/drawing/2014/main" id="{FFBA175C-D562-25E3-032D-477540223664}"/>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5">
            <a:extLst>
              <a:ext uri="{FF2B5EF4-FFF2-40B4-BE49-F238E27FC236}">
                <a16:creationId xmlns:a16="http://schemas.microsoft.com/office/drawing/2014/main" id="{66CA4FE8-A575-44AF-2D37-5A551B6953FD}"/>
              </a:ext>
            </a:extLst>
          </p:cNvPr>
          <p:cNvSpPr>
            <a:spLocks noGrp="1"/>
          </p:cNvSpPr>
          <p:nvPr>
            <p:ph type="pic" sz="quarter" idx="13" hasCustomPrompt="1"/>
          </p:nvPr>
        </p:nvSpPr>
        <p:spPr>
          <a:xfrm>
            <a:off x="6096000" y="2286008"/>
            <a:ext cx="5472260" cy="403396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cxnSp>
        <p:nvCxnSpPr>
          <p:cNvPr id="13" name="Straight Connector 12">
            <a:extLst>
              <a:ext uri="{FF2B5EF4-FFF2-40B4-BE49-F238E27FC236}">
                <a16:creationId xmlns:a16="http://schemas.microsoft.com/office/drawing/2014/main" id="{162FC458-AD46-D16B-DA22-2B3ED9D3A2B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7BA7B643-7883-8028-6ECF-5692E3171384}"/>
              </a:ext>
            </a:extLst>
          </p:cNvPr>
          <p:cNvSpPr>
            <a:spLocks noGrp="1"/>
          </p:cNvSpPr>
          <p:nvPr>
            <p:ph type="dt" sz="half" idx="15"/>
          </p:nvPr>
        </p:nvSpPr>
        <p:spPr/>
        <p:txBody>
          <a:bodyPr/>
          <a:lstStyle/>
          <a:p>
            <a:fld id="{2ABAD28B-DD56-4B56-883A-96608C765E28}" type="datetimeFigureOut">
              <a:rPr lang="en-US" smtClean="0"/>
              <a:pPr/>
              <a:t>12/2/25</a:t>
            </a:fld>
            <a:endParaRPr lang="en-US" dirty="0"/>
          </a:p>
        </p:txBody>
      </p:sp>
      <p:sp>
        <p:nvSpPr>
          <p:cNvPr id="3" name="Footer Placeholder 2">
            <a:extLst>
              <a:ext uri="{FF2B5EF4-FFF2-40B4-BE49-F238E27FC236}">
                <a16:creationId xmlns:a16="http://schemas.microsoft.com/office/drawing/2014/main" id="{C0881F55-F029-7591-FDF9-168F3C85A65B}"/>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2BD88C49-7B47-A791-77EE-3E97DBBC9AC1}"/>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0287247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smtClean="0"/>
              <a:pPr/>
              <a:t>12/2/25</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42040837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735FAB-6C69-9305-A8CD-D9A2ADB4CBD4}"/>
              </a:ext>
            </a:extLst>
          </p:cNvPr>
          <p:cNvSpPr>
            <a:spLocks noGrp="1"/>
          </p:cNvSpPr>
          <p:nvPr>
            <p:ph type="title"/>
          </p:nvPr>
        </p:nvSpPr>
        <p:spPr>
          <a:xfrm>
            <a:off x="1090940" y="1120990"/>
            <a:ext cx="4194291"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0C28B273-3A6A-8E26-2D29-29957F83B5B4}"/>
              </a:ext>
            </a:extLst>
          </p:cNvPr>
          <p:cNvSpPr>
            <a:spLocks noGrp="1"/>
          </p:cNvSpPr>
          <p:nvPr>
            <p:ph type="pic" sz="quarter" idx="15" hasCustomPrompt="1"/>
          </p:nvPr>
        </p:nvSpPr>
        <p:spPr>
          <a:xfrm>
            <a:off x="1181100" y="2840181"/>
            <a:ext cx="4104132"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263ECDE9-389D-5CB3-FE9B-8EFC501599B5}"/>
              </a:ext>
            </a:extLst>
          </p:cNvPr>
          <p:cNvSpPr>
            <a:spLocks noGrp="1"/>
          </p:cNvSpPr>
          <p:nvPr>
            <p:ph sz="quarter" idx="16"/>
          </p:nvPr>
        </p:nvSpPr>
        <p:spPr>
          <a:xfrm>
            <a:off x="5571977" y="1120989"/>
            <a:ext cx="6143988" cy="516551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12/2/25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13" name="Straight Connector 12">
            <a:extLst>
              <a:ext uri="{FF2B5EF4-FFF2-40B4-BE49-F238E27FC236}">
                <a16:creationId xmlns:a16="http://schemas.microsoft.com/office/drawing/2014/main" id="{756A3193-AC76-4E78-CD10-F173CED7D4E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189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8">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12/2/25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5145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848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2">
    <p:bg>
      <p:bgPr>
        <a:solidFill>
          <a:schemeClr val="tx1"/>
        </a:solidFill>
        <a:effectLst/>
      </p:bgPr>
    </p:bg>
    <p:spTree>
      <p:nvGrpSpPr>
        <p:cNvPr id="1" name=""/>
        <p:cNvGrpSpPr/>
        <p:nvPr/>
      </p:nvGrpSpPr>
      <p:grpSpPr>
        <a:xfrm>
          <a:off x="0" y="0"/>
          <a:ext cx="0" cy="0"/>
          <a:chOff x="0" y="0"/>
          <a:chExt cx="0" cy="0"/>
        </a:xfrm>
      </p:grpSpPr>
      <p:sp>
        <p:nvSpPr>
          <p:cNvPr id="8" name="Title 10">
            <a:extLst>
              <a:ext uri="{FF2B5EF4-FFF2-40B4-BE49-F238E27FC236}">
                <a16:creationId xmlns:a16="http://schemas.microsoft.com/office/drawing/2014/main" id="{B6AA5ABE-1DAA-140F-061D-F98431F5FB12}"/>
              </a:ext>
            </a:extLst>
          </p:cNvPr>
          <p:cNvSpPr>
            <a:spLocks noGrp="1"/>
          </p:cNvSpPr>
          <p:nvPr>
            <p:ph type="title"/>
          </p:nvPr>
        </p:nvSpPr>
        <p:spPr>
          <a:xfrm>
            <a:off x="2377440" y="4809744"/>
            <a:ext cx="7525512" cy="1545336"/>
          </a:xfrm>
        </p:spPr>
        <p:txBody>
          <a:bodyPr anchor="t">
            <a:normAutofit/>
          </a:bodyPr>
          <a:lstStyle>
            <a:lvl1pPr algn="ctr">
              <a:defRPr sz="2000" b="0" cap="none" baseline="0">
                <a:solidFill>
                  <a:schemeClr val="bg1"/>
                </a:solidFill>
              </a:defRPr>
            </a:lvl1pPr>
          </a:lstStyle>
          <a:p>
            <a:r>
              <a:rPr lang="en-US"/>
              <a:t>Click to edit Master title style</a:t>
            </a:r>
          </a:p>
        </p:txBody>
      </p:sp>
      <p:sp>
        <p:nvSpPr>
          <p:cNvPr id="7" name="Content Placeholder 9">
            <a:extLst>
              <a:ext uri="{FF2B5EF4-FFF2-40B4-BE49-F238E27FC236}">
                <a16:creationId xmlns:a16="http://schemas.microsoft.com/office/drawing/2014/main" id="{C37BF13F-F73B-BAD2-4508-876DA49EFA61}"/>
              </a:ext>
            </a:extLst>
          </p:cNvPr>
          <p:cNvSpPr>
            <a:spLocks noGrp="1"/>
          </p:cNvSpPr>
          <p:nvPr>
            <p:ph sz="quarter" idx="13" hasCustomPrompt="1"/>
          </p:nvPr>
        </p:nvSpPr>
        <p:spPr>
          <a:xfrm>
            <a:off x="822960" y="603504"/>
            <a:ext cx="10543032" cy="4206240"/>
          </a:xfrm>
        </p:spPr>
        <p:txBody>
          <a:bodyPr anchor="b">
            <a:noAutofit/>
          </a:bodyPr>
          <a:lstStyle>
            <a:lvl1pPr algn="ctr">
              <a:lnSpc>
                <a:spcPct val="85000"/>
              </a:lnSpc>
              <a:defRPr sz="232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C77A7CDD-9512-40CC-9351-FC0DE186CFBD}" type="datetime1">
              <a:rPr lang="en-US" smtClean="0"/>
              <a:pPr/>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1066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2BF491B-1AFE-7CD8-0B38-954C4D0021E7}"/>
              </a:ext>
            </a:extLst>
          </p:cNvPr>
          <p:cNvSpPr>
            <a:spLocks noGrp="1"/>
          </p:cNvSpPr>
          <p:nvPr>
            <p:ph type="title"/>
          </p:nvPr>
        </p:nvSpPr>
        <p:spPr>
          <a:xfrm>
            <a:off x="1088136" y="4297680"/>
            <a:ext cx="7525512" cy="1545336"/>
          </a:xfrm>
        </p:spPr>
        <p:txBody>
          <a:bodyPr anchor="b">
            <a:normAutofit/>
          </a:bodyPr>
          <a:lstStyle>
            <a:lvl1pPr>
              <a:defRPr sz="2000" b="0" cap="none" baseline="0"/>
            </a:lvl1pPr>
          </a:lstStyle>
          <a:p>
            <a:r>
              <a:rPr lang="en-US"/>
              <a:t>Click to edit Master title style</a:t>
            </a:r>
          </a:p>
        </p:txBody>
      </p:sp>
      <p:sp>
        <p:nvSpPr>
          <p:cNvPr id="8" name="Content Placeholder 9">
            <a:extLst>
              <a:ext uri="{FF2B5EF4-FFF2-40B4-BE49-F238E27FC236}">
                <a16:creationId xmlns:a16="http://schemas.microsoft.com/office/drawing/2014/main" id="{52FCE1AA-B772-B201-9710-EF4E78417EBA}"/>
              </a:ext>
            </a:extLst>
          </p:cNvPr>
          <p:cNvSpPr>
            <a:spLocks noGrp="1"/>
          </p:cNvSpPr>
          <p:nvPr>
            <p:ph sz="quarter" idx="13" hasCustomPrompt="1"/>
          </p:nvPr>
        </p:nvSpPr>
        <p:spPr>
          <a:xfrm>
            <a:off x="1002790" y="417576"/>
            <a:ext cx="10713173" cy="3706364"/>
          </a:xfrm>
        </p:spPr>
        <p:txBody>
          <a:bodyPr anchor="b">
            <a:noAutofit/>
          </a:bodyPr>
          <a:lstStyle>
            <a:lvl1pPr>
              <a:lnSpc>
                <a:spcPct val="85000"/>
              </a:lnSpc>
              <a:defRPr sz="23200" b="1">
                <a:solidFill>
                  <a:schemeClr val="tx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2612899A-E63A-CD12-F97C-A2FA6094E56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256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12/2/25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761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solidFill>
                  <a:schemeClr val="bg1"/>
                </a:solidFill>
              </a:defRPr>
            </a:lvl1pPr>
            <a:lvl2pPr marL="228600" indent="0">
              <a:lnSpc>
                <a:spcPct val="90000"/>
              </a:lnSpc>
              <a:buNone/>
              <a:defRPr sz="6000" b="1">
                <a:solidFill>
                  <a:schemeClr val="bg1"/>
                </a:solidFill>
              </a:defRPr>
            </a:lvl2pPr>
            <a:lvl3pPr marL="457200" indent="0">
              <a:lnSpc>
                <a:spcPct val="90000"/>
              </a:lnSpc>
              <a:buNone/>
              <a:defRPr sz="6000" b="1">
                <a:solidFill>
                  <a:schemeClr val="bg1"/>
                </a:solidFill>
              </a:defRPr>
            </a:lvl3pPr>
            <a:lvl4pPr marL="685800" indent="0">
              <a:lnSpc>
                <a:spcPct val="90000"/>
              </a:lnSpc>
              <a:buNone/>
              <a:defRPr sz="6000" b="1">
                <a:solidFill>
                  <a:schemeClr val="bg1"/>
                </a:solidFill>
              </a:defRPr>
            </a:lvl4pPr>
            <a:lvl5pPr marL="914400" indent="0">
              <a:lnSpc>
                <a:spcPct val="9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507735E4-737B-43D4-B991-92C3D63DE68F}" type="datetime1">
              <a:rPr lang="en-US" smtClean="0"/>
              <a:pPr/>
              <a:t>12/2/25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08E120EF-96AD-49A8-BA09-D58A87141B9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599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6" name="Content Placeholder 6">
            <a:extLst>
              <a:ext uri="{FF2B5EF4-FFF2-40B4-BE49-F238E27FC236}">
                <a16:creationId xmlns:a16="http://schemas.microsoft.com/office/drawing/2014/main" id="{BC837C73-FD1C-6BC3-42AE-E47123E09474}"/>
              </a:ext>
            </a:extLst>
          </p:cNvPr>
          <p:cNvSpPr>
            <a:spLocks noGrp="1"/>
          </p:cNvSpPr>
          <p:nvPr>
            <p:ph sz="quarter" idx="13" hasCustomPrompt="1"/>
          </p:nvPr>
        </p:nvSpPr>
        <p:spPr>
          <a:xfrm>
            <a:off x="1088136" y="962895"/>
            <a:ext cx="9418320" cy="5070068"/>
          </a:xfrm>
        </p:spPr>
        <p:txBody>
          <a:bodyPr anchor="b">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12/2/25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79C237F4-1671-5EFD-3EAE-BEA28978BBA6}"/>
              </a:ext>
              <a:ext uri="{C183D7F6-B498-43B3-948B-1728B52AA6E4}">
                <adec:decorative xmlns:adec="http://schemas.microsoft.com/office/drawing/2017/decorative" val="1"/>
              </a:ext>
            </a:extLst>
          </p:cNvPr>
          <p:cNvCxnSpPr>
            <a:cxnSpLocks/>
          </p:cNvCxnSpPr>
          <p:nvPr userDrawn="1"/>
        </p:nvCxnSpPr>
        <p:spPr>
          <a:xfrm>
            <a:off x="0"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2139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4856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1792072-4C91-C8F5-8610-85D14AF776EF}"/>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9" name="Content Placeholder 9">
            <a:extLst>
              <a:ext uri="{FF2B5EF4-FFF2-40B4-BE49-F238E27FC236}">
                <a16:creationId xmlns:a16="http://schemas.microsoft.com/office/drawing/2014/main" id="{5C136A94-B9AF-C114-ADA5-F7C4F9C6BB46}"/>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BBBA1285-A10F-FAE9-76E3-2B86ABE5A10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1949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bg>
      <p:bgRef idx="1002">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23297E-8165-FAA9-BD47-048A40470A95}"/>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8" name="Content Placeholder 9">
            <a:extLst>
              <a:ext uri="{FF2B5EF4-FFF2-40B4-BE49-F238E27FC236}">
                <a16:creationId xmlns:a16="http://schemas.microsoft.com/office/drawing/2014/main" id="{EB06CB5A-8941-99F2-1165-02A2756457AA}"/>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F8418BD-2BA9-41CB-AB89-625779A7563D}" type="datetime1">
              <a:rPr lang="en-US" smtClean="0"/>
              <a:pPr/>
              <a:t>12/2/25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E632116-9F85-9512-0994-6B728E08093B}"/>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97492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0147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78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762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12/2/25</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dirty="0"/>
          </a:p>
        </p:txBody>
      </p:sp>
    </p:spTree>
    <p:extLst>
      <p:ext uri="{BB962C8B-B14F-4D97-AF65-F5344CB8AC3E}">
        <p14:creationId xmlns:p14="http://schemas.microsoft.com/office/powerpoint/2010/main" val="1643845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A6BBA35-FE70-186E-0D41-43FF7DB180B5}"/>
              </a:ext>
            </a:extLst>
          </p:cNvPr>
          <p:cNvSpPr>
            <a:spLocks noGrp="1"/>
          </p:cNvSpPr>
          <p:nvPr>
            <p:ph type="title"/>
          </p:nvPr>
        </p:nvSpPr>
        <p:spPr>
          <a:xfrm>
            <a:off x="1090940" y="1114007"/>
            <a:ext cx="3595634" cy="1757505"/>
          </a:xfrm>
        </p:spPr>
        <p:txBody>
          <a:bodyPr anchor="t">
            <a:normAutofit/>
          </a:bodyPr>
          <a:lstStyle>
            <a:lvl1pPr>
              <a:defRPr sz="3600"/>
            </a:lvl1pPr>
          </a:lstStyle>
          <a:p>
            <a:r>
              <a:rPr lang="en-US" dirty="0"/>
              <a:t>Click to edit Master title style</a:t>
            </a:r>
          </a:p>
        </p:txBody>
      </p:sp>
      <p:sp>
        <p:nvSpPr>
          <p:cNvPr id="10" name="Text Placeholder 3">
            <a:extLst>
              <a:ext uri="{FF2B5EF4-FFF2-40B4-BE49-F238E27FC236}">
                <a16:creationId xmlns:a16="http://schemas.microsoft.com/office/drawing/2014/main" id="{866776A3-4932-D86F-96CB-5A080182B290}"/>
              </a:ext>
            </a:extLst>
          </p:cNvPr>
          <p:cNvSpPr>
            <a:spLocks noGrp="1"/>
          </p:cNvSpPr>
          <p:nvPr>
            <p:ph type="body" sz="half" idx="2"/>
          </p:nvPr>
        </p:nvSpPr>
        <p:spPr>
          <a:xfrm>
            <a:off x="1090940" y="3151191"/>
            <a:ext cx="3595634" cy="3124195"/>
          </a:xfrm>
        </p:spPr>
        <p:txBody>
          <a:bodyPr anchor="t">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Content Placeholder 2">
            <a:extLst>
              <a:ext uri="{FF2B5EF4-FFF2-40B4-BE49-F238E27FC236}">
                <a16:creationId xmlns:a16="http://schemas.microsoft.com/office/drawing/2014/main" id="{AF432AC3-A40E-E003-2947-B99A796F9E5A}"/>
              </a:ext>
            </a:extLst>
          </p:cNvPr>
          <p:cNvSpPr>
            <a:spLocks noGrp="1"/>
          </p:cNvSpPr>
          <p:nvPr>
            <p:ph idx="1"/>
          </p:nvPr>
        </p:nvSpPr>
        <p:spPr>
          <a:xfrm>
            <a:off x="5275706" y="1114007"/>
            <a:ext cx="6440258" cy="5161380"/>
          </a:xfrm>
        </p:spPr>
        <p:txBody>
          <a:bodyPr vert="horz" lIns="91440" tIns="45720" rIns="91440" bIns="45720" rtlCol="0">
            <a:normAutofit/>
          </a:bodyPr>
          <a:lstStyle>
            <a:lvl1pPr>
              <a:lnSpc>
                <a:spcPct val="100000"/>
              </a:lnSpc>
              <a:defRPr lang="en-US" dirty="0"/>
            </a:lvl1pPr>
            <a:lvl2pPr>
              <a:lnSpc>
                <a:spcPct val="100000"/>
              </a:lnSpc>
              <a:defRPr lang="en-US" dirty="0"/>
            </a:lvl2pPr>
            <a:lvl3pPr>
              <a:lnSpc>
                <a:spcPct val="100000"/>
              </a:lnSpc>
              <a:defRPr lang="en-US" dirty="0"/>
            </a:lvl3pPr>
            <a:lvl4pPr>
              <a:lnSpc>
                <a:spcPct val="100000"/>
              </a:lnSpc>
              <a:defRPr lang="en-US" dirty="0"/>
            </a:lvl4pPr>
            <a:lvl5pPr>
              <a:lnSpc>
                <a:spcPct val="100000"/>
              </a:lnSpc>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12/2/25</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29DA9D5E-44AB-AC59-BF1B-0A23217D6ED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6157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with Cap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608BFB-2ED8-159F-6A27-89452808DC50}"/>
              </a:ext>
            </a:extLst>
          </p:cNvPr>
          <p:cNvSpPr>
            <a:spLocks noGrp="1"/>
          </p:cNvSpPr>
          <p:nvPr>
            <p:ph type="title"/>
          </p:nvPr>
        </p:nvSpPr>
        <p:spPr>
          <a:xfrm>
            <a:off x="1090940" y="1121098"/>
            <a:ext cx="3595634" cy="1585660"/>
          </a:xfrm>
        </p:spPr>
        <p:txBody>
          <a:bodyPr anchor="t">
            <a:normAutofit/>
          </a:bodyPr>
          <a:lstStyle>
            <a:lvl1pPr>
              <a:defRPr sz="3600"/>
            </a:lvl1pPr>
          </a:lstStyle>
          <a:p>
            <a:r>
              <a:rPr lang="en-US" dirty="0"/>
              <a:t>Click to edit Master title style</a:t>
            </a:r>
          </a:p>
        </p:txBody>
      </p:sp>
      <p:sp>
        <p:nvSpPr>
          <p:cNvPr id="9" name="Text Placeholder 3">
            <a:extLst>
              <a:ext uri="{FF2B5EF4-FFF2-40B4-BE49-F238E27FC236}">
                <a16:creationId xmlns:a16="http://schemas.microsoft.com/office/drawing/2014/main" id="{8CDE9255-016B-D7F7-ECF1-C39D5F73C898}"/>
              </a:ext>
            </a:extLst>
          </p:cNvPr>
          <p:cNvSpPr>
            <a:spLocks noGrp="1"/>
          </p:cNvSpPr>
          <p:nvPr>
            <p:ph type="body" sz="half" idx="2"/>
          </p:nvPr>
        </p:nvSpPr>
        <p:spPr>
          <a:xfrm>
            <a:off x="1090940" y="2812473"/>
            <a:ext cx="3585586" cy="3328922"/>
          </a:xfrm>
        </p:spPr>
        <p:txBody>
          <a:bodyPr anchor="b">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1917ECD0-1364-5EE8-D8DC-C5D439E04572}"/>
              </a:ext>
            </a:extLst>
          </p:cNvPr>
          <p:cNvSpPr>
            <a:spLocks noGrp="1"/>
          </p:cNvSpPr>
          <p:nvPr>
            <p:ph type="pic" idx="1" hasCustomPrompt="1"/>
          </p:nvPr>
        </p:nvSpPr>
        <p:spPr>
          <a:xfrm>
            <a:off x="5576327" y="1143000"/>
            <a:ext cx="6139637" cy="4998395"/>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12/2/25</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515600" y="6438900"/>
            <a:ext cx="609600" cy="419100"/>
          </a:xfr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747B791B-0FFC-B470-22DF-BCA62BD9859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6439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1">
              <a:rPr lang="en-US" smtClean="0"/>
              <a:pPr/>
              <a:t>12/2/25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334043"/>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12/2/25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0130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3">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CD39DEB-067C-9D79-3029-F27DEA1D48E1}"/>
              </a:ext>
            </a:extLst>
          </p:cNvPr>
          <p:cNvSpPr>
            <a:spLocks noGrp="1"/>
          </p:cNvSpPr>
          <p:nvPr>
            <p:ph type="title"/>
          </p:nvPr>
        </p:nvSpPr>
        <p:spPr>
          <a:xfrm>
            <a:off x="82296" y="64009"/>
            <a:ext cx="12015216" cy="3364989"/>
          </a:xfrm>
        </p:spPr>
        <p:txBody>
          <a:bodyPr anchor="t" anchorCtr="0">
            <a:noAutofit/>
          </a:bodyPr>
          <a:lstStyle>
            <a:lvl1pPr>
              <a:defRPr sz="8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4647304" y="3673928"/>
            <a:ext cx="6477896" cy="2180771"/>
          </a:xfrm>
        </p:spPr>
        <p:txBody>
          <a:bodyPr anchor="b">
            <a:noAutofit/>
          </a:bodyPr>
          <a:lstStyle>
            <a:lvl1pPr marL="0" indent="0" algn="r">
              <a:lnSpc>
                <a:spcPct val="100000"/>
              </a:lnSpc>
              <a:buNone/>
              <a:defRPr sz="2000">
                <a:solidFill>
                  <a:schemeClr val="tx1"/>
                </a:solidFill>
              </a:defRPr>
            </a:lvl1pPr>
            <a:lvl2pPr marL="228600" indent="0" algn="r">
              <a:lnSpc>
                <a:spcPct val="100000"/>
              </a:lnSpc>
              <a:buNone/>
              <a:defRPr sz="2000">
                <a:solidFill>
                  <a:schemeClr val="tx1"/>
                </a:solidFill>
              </a:defRPr>
            </a:lvl2pPr>
            <a:lvl3pPr marL="457200" indent="0" algn="r">
              <a:lnSpc>
                <a:spcPct val="100000"/>
              </a:lnSpc>
              <a:buNone/>
              <a:defRPr sz="2000">
                <a:solidFill>
                  <a:schemeClr val="tx1"/>
                </a:solidFill>
              </a:defRPr>
            </a:lvl3pPr>
            <a:lvl4pPr marL="685800" indent="0" algn="r">
              <a:lnSpc>
                <a:spcPct val="100000"/>
              </a:lnSpc>
              <a:buNone/>
              <a:defRPr sz="2000">
                <a:solidFill>
                  <a:schemeClr val="tx1"/>
                </a:solidFill>
              </a:defRPr>
            </a:lvl4pPr>
            <a:lvl5pPr marL="914400" indent="0" algn="r">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12/2/25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23ED45B0-E181-14EB-63CB-0A76273817B5}"/>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5211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smtClean="0"/>
              <a:pPr/>
              <a:t>12/2/25</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969869501"/>
      </p:ext>
    </p:extLst>
  </p:cSld>
  <p:clrMap bg1="lt1" tx1="dk1" bg2="lt2" tx2="dk2" accent1="accent1" accent2="accent2" accent3="accent3" accent4="accent4" accent5="accent5" accent6="accent6" hlink="hlink" folHlink="folHlink"/>
  <p:sldLayoutIdLst>
    <p:sldLayoutId id="2147483727" r:id="rId1"/>
    <p:sldLayoutId id="2147483730" r:id="rId2"/>
    <p:sldLayoutId id="2147483726" r:id="rId3"/>
    <p:sldLayoutId id="2147483737" r:id="rId4"/>
    <p:sldLayoutId id="2147483728" r:id="rId5"/>
    <p:sldLayoutId id="2147483729" r:id="rId6"/>
    <p:sldLayoutId id="2147483738" r:id="rId7"/>
    <p:sldLayoutId id="2147483789" r:id="rId8"/>
    <p:sldLayoutId id="2147483818" r:id="rId9"/>
    <p:sldLayoutId id="2147483819" r:id="rId10"/>
    <p:sldLayoutId id="2147483820" r:id="rId11"/>
    <p:sldLayoutId id="2147483731" r:id="rId12"/>
    <p:sldLayoutId id="2147483743" r:id="rId13"/>
    <p:sldLayoutId id="2147483788" r:id="rId14"/>
    <p:sldLayoutId id="2147483792" r:id="rId15"/>
    <p:sldLayoutId id="2147483793" r:id="rId16"/>
    <p:sldLayoutId id="2147483794" r:id="rId17"/>
    <p:sldLayoutId id="2147483795" r:id="rId18"/>
    <p:sldLayoutId id="2147483796" r:id="rId19"/>
    <p:sldLayoutId id="2147483797" r:id="rId20"/>
    <p:sldLayoutId id="2147483816" r:id="rId21"/>
    <p:sldLayoutId id="2147483817" r:id="rId22"/>
    <p:sldLayoutId id="2147483814" r:id="rId23"/>
    <p:sldLayoutId id="2147483815" r:id="rId24"/>
    <p:sldLayoutId id="2147483812" r:id="rId25"/>
    <p:sldLayoutId id="2147483813" r:id="rId26"/>
    <p:sldLayoutId id="2147483811" r:id="rId27"/>
    <p:sldLayoutId id="2147483810" r:id="rId28"/>
    <p:sldLayoutId id="2147483809" r:id="rId29"/>
    <p:sldLayoutId id="2147483808" r:id="rId30"/>
    <p:sldLayoutId id="2147483807" r:id="rId31"/>
    <p:sldLayoutId id="2147483806" r:id="rId32"/>
    <p:sldLayoutId id="2147483805" r:id="rId33"/>
    <p:sldLayoutId id="2147483803" r:id="rId34"/>
    <p:sldLayoutId id="2147483804" r:id="rId35"/>
    <p:sldLayoutId id="2147483802" r:id="rId36"/>
    <p:sldLayoutId id="2147483801" r:id="rId37"/>
    <p:sldLayoutId id="2147483768" r:id="rId38"/>
    <p:sldLayoutId id="2147483769" r:id="rId39"/>
    <p:sldLayoutId id="2147483770" r:id="rId40"/>
    <p:sldLayoutId id="2147483771" r:id="rId41"/>
    <p:sldLayoutId id="2147483774" r:id="rId42"/>
    <p:sldLayoutId id="2147483800" r:id="rId43"/>
    <p:sldLayoutId id="2147483821" r:id="rId44"/>
    <p:sldLayoutId id="2147483775" r:id="rId45"/>
    <p:sldLayoutId id="2147483776" r:id="rId46"/>
    <p:sldLayoutId id="2147483778" r:id="rId47"/>
    <p:sldLayoutId id="2147483798" r:id="rId48"/>
    <p:sldLayoutId id="2147483799" r:id="rId49"/>
    <p:sldLayoutId id="2147483734" r:id="rId50"/>
    <p:sldLayoutId id="2147483782" r:id="rId51"/>
    <p:sldLayoutId id="2147483783" r:id="rId52"/>
    <p:sldLayoutId id="2147483784" r:id="rId53"/>
    <p:sldLayoutId id="2147483785" r:id="rId54"/>
    <p:sldLayoutId id="2147483786" r:id="rId55"/>
    <p:sldLayoutId id="2147483822" r:id="rId56"/>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userDrawn="1">
          <p15:clr>
            <a:srgbClr val="F26B43"/>
          </p15:clr>
        </p15:guide>
        <p15:guide id="8" pos="6936">
          <p15:clr>
            <a:srgbClr val="F26B43"/>
          </p15:clr>
        </p15:guide>
        <p15:guide id="10" orient="horz" pos="720">
          <p15:clr>
            <a:srgbClr val="F26B43"/>
          </p15:clr>
        </p15:guide>
        <p15:guide id="14" pos="6624" userDrawn="1">
          <p15:clr>
            <a:srgbClr val="F26B43"/>
          </p15:clr>
        </p15:guide>
        <p15:guide id="22" orient="horz" pos="360">
          <p15:clr>
            <a:srgbClr val="F26B43"/>
          </p15:clr>
        </p15:guide>
        <p15:guide id="23" orient="horz" pos="3960" userDrawn="1">
          <p15:clr>
            <a:srgbClr val="F26B43"/>
          </p15:clr>
        </p15:guide>
        <p15:guide id="24" orient="horz" pos="2160" userDrawn="1">
          <p15:clr>
            <a:srgbClr val="F26B43"/>
          </p15:clr>
        </p15:guide>
        <p15:guide id="25" pos="7680" userDrawn="1">
          <p15:clr>
            <a:srgbClr val="F26B43"/>
          </p15:clr>
        </p15:guide>
        <p15:guide id="26" pos="3840" userDrawn="1">
          <p15:clr>
            <a:srgbClr val="F26B43"/>
          </p15:clr>
        </p15:guide>
        <p15:guide id="27" pos="6168" userDrawn="1">
          <p15:clr>
            <a:srgbClr val="F26B43"/>
          </p15:clr>
        </p15:guide>
        <p15:guide id="28" pos="672" userDrawn="1">
          <p15:clr>
            <a:srgbClr val="F26B43"/>
          </p15:clr>
        </p15:guide>
        <p15:guide id="29" pos="7008" userDrawn="1">
          <p15:clr>
            <a:srgbClr val="F26B43"/>
          </p15:clr>
        </p15:guide>
        <p15:guide id="30" orient="horz" pos="4056" userDrawn="1">
          <p15:clr>
            <a:srgbClr val="F26B43"/>
          </p15:clr>
        </p15:guide>
        <p15:guide id="31"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B29EE-F422-358E-EBD9-D04D5C5D4FE6}"/>
              </a:ext>
            </a:extLst>
          </p:cNvPr>
          <p:cNvSpPr>
            <a:spLocks noGrp="1"/>
          </p:cNvSpPr>
          <p:nvPr>
            <p:ph type="title"/>
          </p:nvPr>
        </p:nvSpPr>
        <p:spPr>
          <a:xfrm>
            <a:off x="1088136" y="539497"/>
            <a:ext cx="7876287" cy="3614139"/>
          </a:xfrm>
        </p:spPr>
        <p:txBody>
          <a:bodyPr anchor="b">
            <a:normAutofit/>
          </a:bodyPr>
          <a:lstStyle/>
          <a:p>
            <a:r>
              <a:rPr lang="en-US" dirty="0"/>
              <a:t>BBC News Categorization Analysis</a:t>
            </a:r>
          </a:p>
        </p:txBody>
      </p:sp>
      <p:sp>
        <p:nvSpPr>
          <p:cNvPr id="3" name="Subtitle 2">
            <a:extLst>
              <a:ext uri="{FF2B5EF4-FFF2-40B4-BE49-F238E27FC236}">
                <a16:creationId xmlns:a16="http://schemas.microsoft.com/office/drawing/2014/main" id="{D4FCDCE2-1E9D-1DE6-391C-D4C5CA3F3245}"/>
              </a:ext>
            </a:extLst>
          </p:cNvPr>
          <p:cNvSpPr>
            <a:spLocks noGrp="1"/>
          </p:cNvSpPr>
          <p:nvPr>
            <p:ph type="subTitle" idx="1"/>
          </p:nvPr>
        </p:nvSpPr>
        <p:spPr>
          <a:xfrm>
            <a:off x="1815295" y="4153636"/>
            <a:ext cx="7375466" cy="1856871"/>
          </a:xfrm>
        </p:spPr>
        <p:txBody>
          <a:bodyPr anchor="t">
            <a:normAutofit/>
          </a:bodyPr>
          <a:lstStyle/>
          <a:p>
            <a:pPr>
              <a:spcAft>
                <a:spcPts val="600"/>
              </a:spcAft>
            </a:pPr>
            <a:r>
              <a:rPr lang="en-US" sz="1600" dirty="0"/>
              <a:t>ITAI 2373: Final Project</a:t>
            </a:r>
          </a:p>
          <a:p>
            <a:pPr>
              <a:spcAft>
                <a:spcPts val="600"/>
              </a:spcAft>
            </a:pPr>
            <a:r>
              <a:rPr lang="en-US" sz="1600" dirty="0"/>
              <a:t>Andres Daza &amp; Taki </a:t>
            </a:r>
            <a:r>
              <a:rPr lang="en-US" sz="1600" dirty="0" err="1"/>
              <a:t>Bouberi</a:t>
            </a:r>
            <a:endParaRPr lang="en-US" sz="1600" dirty="0"/>
          </a:p>
          <a:p>
            <a:pPr>
              <a:spcAft>
                <a:spcPts val="600"/>
              </a:spcAft>
            </a:pPr>
            <a:r>
              <a:rPr lang="en-US" sz="1600" dirty="0"/>
              <a:t>Professor Anna </a:t>
            </a:r>
            <a:r>
              <a:rPr lang="en-US" sz="1600" dirty="0" err="1"/>
              <a:t>Rachapudi</a:t>
            </a:r>
            <a:endParaRPr lang="en-US" sz="1600" dirty="0"/>
          </a:p>
        </p:txBody>
      </p:sp>
    </p:spTree>
    <p:extLst>
      <p:ext uri="{BB962C8B-B14F-4D97-AF65-F5344CB8AC3E}">
        <p14:creationId xmlns:p14="http://schemas.microsoft.com/office/powerpoint/2010/main" val="302034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0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1000"/>
                                  </p:stCondLst>
                                  <p:iterate>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700"/>
                                        <p:tgtEl>
                                          <p:spTgt spid="3">
                                            <p:txEl>
                                              <p:pRg st="2" end="2"/>
                                            </p:txEl>
                                          </p:spTgt>
                                        </p:tgtEl>
                                      </p:cBhvr>
                                    </p:animEffect>
                                  </p:childTnLst>
                                </p:cTn>
                              </p:par>
                              <p:par>
                                <p:cTn id="17" presetID="10" presetClass="entr" presetSubtype="0" fill="hold" grpId="1" nodeType="withEffect">
                                  <p:stCondLst>
                                    <p:cond delay="250"/>
                                  </p:stCondLst>
                                  <p:iterate>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0DE38-7621-7CE8-97C6-D63800F81C7D}"/>
              </a:ext>
            </a:extLst>
          </p:cNvPr>
          <p:cNvSpPr>
            <a:spLocks noGrp="1"/>
          </p:cNvSpPr>
          <p:nvPr>
            <p:ph type="title"/>
          </p:nvPr>
        </p:nvSpPr>
        <p:spPr>
          <a:xfrm>
            <a:off x="1088136" y="1090244"/>
            <a:ext cx="10037064" cy="5159257"/>
          </a:xfrm>
        </p:spPr>
        <p:txBody>
          <a:bodyPr anchor="t">
            <a:normAutofit/>
          </a:bodyPr>
          <a:lstStyle/>
          <a:p>
            <a:r>
              <a:rPr lang="en-US"/>
              <a:t>Introduction</a:t>
            </a:r>
          </a:p>
        </p:txBody>
      </p:sp>
    </p:spTree>
    <p:extLst>
      <p:ext uri="{BB962C8B-B14F-4D97-AF65-F5344CB8AC3E}">
        <p14:creationId xmlns:p14="http://schemas.microsoft.com/office/powerpoint/2010/main" val="11359484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14680-D099-9A3C-557A-24E5E6CBA4DA}"/>
              </a:ext>
            </a:extLst>
          </p:cNvPr>
          <p:cNvSpPr>
            <a:spLocks noGrp="1"/>
          </p:cNvSpPr>
          <p:nvPr>
            <p:ph type="title"/>
          </p:nvPr>
        </p:nvSpPr>
        <p:spPr>
          <a:xfrm>
            <a:off x="1088136" y="1090246"/>
            <a:ext cx="10840626" cy="790510"/>
          </a:xfrm>
        </p:spPr>
        <p:txBody>
          <a:bodyPr anchor="t">
            <a:normAutofit/>
          </a:bodyPr>
          <a:lstStyle/>
          <a:p>
            <a:r>
              <a:rPr lang="en-US" dirty="0"/>
              <a:t>Project Dataset: BBC News</a:t>
            </a:r>
          </a:p>
        </p:txBody>
      </p:sp>
      <p:graphicFrame>
        <p:nvGraphicFramePr>
          <p:cNvPr id="4" name="Content Placeholder 3">
            <a:extLst>
              <a:ext uri="{FF2B5EF4-FFF2-40B4-BE49-F238E27FC236}">
                <a16:creationId xmlns:a16="http://schemas.microsoft.com/office/drawing/2014/main" id="{5ECAE531-D90A-4B49-B42D-3E1DDDFFFD1E}"/>
              </a:ext>
            </a:extLst>
          </p:cNvPr>
          <p:cNvGraphicFramePr>
            <a:graphicFrameLocks noGrp="1"/>
          </p:cNvGraphicFramePr>
          <p:nvPr>
            <p:ph idx="1"/>
            <p:extLst>
              <p:ext uri="{D42A27DB-BD31-4B8C-83A1-F6EECF244321}">
                <p14:modId xmlns:p14="http://schemas.microsoft.com/office/powerpoint/2010/main" val="350886503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088135" y="1880756"/>
          <a:ext cx="10840627" cy="4558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04963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2AA5A-5035-F42C-DAC7-88E47B5090BA}"/>
              </a:ext>
            </a:extLst>
          </p:cNvPr>
          <p:cNvSpPr>
            <a:spLocks noGrp="1"/>
          </p:cNvSpPr>
          <p:nvPr>
            <p:ph type="title"/>
          </p:nvPr>
        </p:nvSpPr>
        <p:spPr>
          <a:xfrm>
            <a:off x="1090940" y="1120990"/>
            <a:ext cx="4194291" cy="1505157"/>
          </a:xfrm>
        </p:spPr>
        <p:txBody>
          <a:bodyPr anchor="t">
            <a:normAutofit/>
          </a:bodyPr>
          <a:lstStyle/>
          <a:p>
            <a:r>
              <a:rPr lang="en-US"/>
              <a:t>Dataset Details</a:t>
            </a:r>
          </a:p>
        </p:txBody>
      </p:sp>
      <p:pic>
        <p:nvPicPr>
          <p:cNvPr id="5" name="Content Placeholder 4" descr="DATA STREAMING CONCEPT">
            <a:extLst>
              <a:ext uri="{FF2B5EF4-FFF2-40B4-BE49-F238E27FC236}">
                <a16:creationId xmlns:a16="http://schemas.microsoft.com/office/drawing/2014/main" id="{54BBCA70-D5B9-4B4C-A2C2-CBE80ABBB0EF}"/>
              </a:ext>
            </a:extLst>
          </p:cNvPr>
          <p:cNvPicPr>
            <a:picLocks noGrp="1" noChangeAspect="1"/>
          </p:cNvPicPr>
          <p:nvPr>
            <p:ph type="pic" sz="quarter" idx="15"/>
          </p:nvPr>
        </p:nvPicPr>
        <p:blipFill>
          <a:blip r:embed="rId3"/>
          <a:srcRect r="20512" b="3"/>
          <a:stretch>
            <a:fillRect/>
          </a:stretch>
        </p:blipFill>
        <p:spPr>
          <a:xfrm>
            <a:off x="1181100" y="2840181"/>
            <a:ext cx="4104132" cy="3446317"/>
          </a:xfrm>
          <a:prstGeom prst="rect">
            <a:avLst/>
          </a:prstGeom>
          <a:noFill/>
        </p:spPr>
      </p:pic>
      <p:sp>
        <p:nvSpPr>
          <p:cNvPr id="4" name="Content Placeholder 3">
            <a:extLst>
              <a:ext uri="{FF2B5EF4-FFF2-40B4-BE49-F238E27FC236}">
                <a16:creationId xmlns:a16="http://schemas.microsoft.com/office/drawing/2014/main" id="{55E1329B-78C1-6399-2018-F5D31E001383}"/>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71977" y="1120989"/>
            <a:ext cx="6143988" cy="5165511"/>
          </a:xfrm>
        </p:spPr>
        <p:txBody>
          <a:bodyPr>
            <a:normAutofit/>
          </a:bodyPr>
          <a:lstStyle/>
          <a:p>
            <a:pPr marL="0" indent="0">
              <a:spcBef>
                <a:spcPts val="2500"/>
              </a:spcBef>
              <a:spcAft>
                <a:spcPts val="600"/>
              </a:spcAft>
              <a:buFont typeface="Arial" panose="020B0604020202020204" pitchFamily="34" charset="0"/>
              <a:buNone/>
            </a:pPr>
            <a:r>
              <a:rPr lang="en-US" sz="1400" b="1"/>
              <a:t>Dataset Composition</a:t>
            </a:r>
          </a:p>
          <a:p>
            <a:pPr marL="0" lvl="1" indent="0">
              <a:spcAft>
                <a:spcPts val="600"/>
              </a:spcAft>
              <a:buFont typeface="Arial" panose="020B0604020202020204" pitchFamily="34" charset="0"/>
              <a:buNone/>
            </a:pPr>
            <a:r>
              <a:rPr lang="en-US" sz="1400"/>
              <a:t>The BBC News dataset includes labeled articles in business, tech, politics, sport, and entertainment categories.</a:t>
            </a:r>
          </a:p>
          <a:p>
            <a:pPr marL="0" indent="0">
              <a:spcBef>
                <a:spcPts val="2500"/>
              </a:spcBef>
              <a:spcAft>
                <a:spcPts val="600"/>
              </a:spcAft>
              <a:buFont typeface="Arial" panose="020B0604020202020204" pitchFamily="34" charset="0"/>
              <a:buNone/>
            </a:pPr>
            <a:r>
              <a:rPr lang="en-US" sz="1400" b="1"/>
              <a:t>Training and Testing Data</a:t>
            </a:r>
          </a:p>
          <a:p>
            <a:pPr marL="0" lvl="1" indent="0">
              <a:spcAft>
                <a:spcPts val="600"/>
              </a:spcAft>
              <a:buFont typeface="Arial" panose="020B0604020202020204" pitchFamily="34" charset="0"/>
              <a:buNone/>
            </a:pPr>
            <a:r>
              <a:rPr lang="en-US" sz="1400"/>
              <a:t>Training set has 1,490 records, and testing set has 735 records for balanced model development.</a:t>
            </a:r>
          </a:p>
          <a:p>
            <a:pPr marL="0" indent="0">
              <a:spcBef>
                <a:spcPts val="2500"/>
              </a:spcBef>
              <a:spcAft>
                <a:spcPts val="600"/>
              </a:spcAft>
              <a:buFont typeface="Arial" panose="020B0604020202020204" pitchFamily="34" charset="0"/>
              <a:buNone/>
            </a:pPr>
            <a:r>
              <a:rPr lang="en-US" sz="1400" b="1"/>
              <a:t>Text Preprocessing</a:t>
            </a:r>
          </a:p>
          <a:p>
            <a:pPr marL="0" lvl="1" indent="0">
              <a:spcAft>
                <a:spcPts val="600"/>
              </a:spcAft>
              <a:buFont typeface="Arial" panose="020B0604020202020204" pitchFamily="34" charset="0"/>
              <a:buNone/>
            </a:pPr>
            <a:r>
              <a:rPr lang="en-US" sz="1400"/>
              <a:t>Preprocessing steps include tokenization, stop-word removal, and TF-IDF feature extraction to prepare data for ML.</a:t>
            </a:r>
          </a:p>
          <a:p>
            <a:pPr marL="0" indent="0">
              <a:spcBef>
                <a:spcPts val="2500"/>
              </a:spcBef>
              <a:spcAft>
                <a:spcPts val="600"/>
              </a:spcAft>
              <a:buFont typeface="Arial" panose="020B0604020202020204" pitchFamily="34" charset="0"/>
              <a:buNone/>
            </a:pPr>
            <a:r>
              <a:rPr lang="en-US" sz="1400" b="1"/>
              <a:t>Dataset Importance</a:t>
            </a:r>
          </a:p>
          <a:p>
            <a:pPr marL="0" lvl="1" indent="0">
              <a:spcAft>
                <a:spcPts val="600"/>
              </a:spcAft>
              <a:buFont typeface="Arial" panose="020B0604020202020204" pitchFamily="34" charset="0"/>
              <a:buNone/>
            </a:pPr>
            <a:r>
              <a:rPr lang="en-US" sz="1400"/>
              <a:t>Understanding dataset structure is vital for choosing models and evaluation metrics for accurate classification.</a:t>
            </a:r>
          </a:p>
        </p:txBody>
      </p:sp>
    </p:spTree>
    <p:extLst>
      <p:ext uri="{BB962C8B-B14F-4D97-AF65-F5344CB8AC3E}">
        <p14:creationId xmlns:p14="http://schemas.microsoft.com/office/powerpoint/2010/main" val="18185371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A2A2-B6E9-69D4-8934-7BE4992AFCEF}"/>
              </a:ext>
            </a:extLst>
          </p:cNvPr>
          <p:cNvSpPr>
            <a:spLocks noGrp="1"/>
          </p:cNvSpPr>
          <p:nvPr>
            <p:ph type="title"/>
          </p:nvPr>
        </p:nvSpPr>
        <p:spPr>
          <a:xfrm>
            <a:off x="1088136" y="1090244"/>
            <a:ext cx="10037064" cy="5159257"/>
          </a:xfrm>
        </p:spPr>
        <p:txBody>
          <a:bodyPr anchor="t">
            <a:normAutofit/>
          </a:bodyPr>
          <a:lstStyle/>
          <a:p>
            <a:r>
              <a:rPr lang="en-US"/>
              <a:t>Model Comparison and Performance</a:t>
            </a:r>
          </a:p>
        </p:txBody>
      </p:sp>
    </p:spTree>
    <p:extLst>
      <p:ext uri="{BB962C8B-B14F-4D97-AF65-F5344CB8AC3E}">
        <p14:creationId xmlns:p14="http://schemas.microsoft.com/office/powerpoint/2010/main" val="26684536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35751-2281-56AF-2279-30EE36566A2E}"/>
              </a:ext>
            </a:extLst>
          </p:cNvPr>
          <p:cNvSpPr>
            <a:spLocks noGrp="1"/>
          </p:cNvSpPr>
          <p:nvPr>
            <p:ph type="title"/>
          </p:nvPr>
        </p:nvSpPr>
        <p:spPr>
          <a:xfrm>
            <a:off x="7311355" y="1111101"/>
            <a:ext cx="3813845" cy="1493861"/>
          </a:xfrm>
        </p:spPr>
        <p:txBody>
          <a:bodyPr anchor="t">
            <a:normAutofit/>
          </a:bodyPr>
          <a:lstStyle/>
          <a:p>
            <a:r>
              <a:rPr lang="en-US"/>
              <a:t>Models Evaluated</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A4728333-1F80-4D06-80A7-255D688B6DCC}"/>
              </a:ext>
            </a:extLst>
          </p:cNvPr>
          <p:cNvPicPr>
            <a:picLocks noGrp="1" noChangeAspect="1"/>
          </p:cNvPicPr>
          <p:nvPr>
            <p:ph type="pic" sz="quarter" idx="13"/>
          </p:nvPr>
        </p:nvPicPr>
        <p:blipFill>
          <a:blip r:embed="rId3"/>
          <a:srcRect l="19922" r="11948" b="-1"/>
          <a:stretch>
            <a:fillRect/>
          </a:stretch>
        </p:blipFill>
        <p:spPr>
          <a:xfrm>
            <a:off x="12192" y="10"/>
            <a:ext cx="6999768" cy="6857990"/>
          </a:xfrm>
          <a:prstGeom prst="rect">
            <a:avLst/>
          </a:prstGeom>
          <a:noFill/>
        </p:spPr>
      </p:pic>
      <p:sp>
        <p:nvSpPr>
          <p:cNvPr id="4" name="Content Placeholder 3">
            <a:extLst>
              <a:ext uri="{FF2B5EF4-FFF2-40B4-BE49-F238E27FC236}">
                <a16:creationId xmlns:a16="http://schemas.microsoft.com/office/drawing/2014/main" id="{E5C53FB8-A01C-90FE-5A82-C9F74182CC09}"/>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1355" y="2700671"/>
            <a:ext cx="3813846" cy="3585830"/>
          </a:xfr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a:t>Naive Bayes Model</a:t>
            </a:r>
          </a:p>
          <a:p>
            <a:pPr marL="0" lvl="1" indent="0">
              <a:lnSpc>
                <a:spcPct val="90000"/>
              </a:lnSpc>
              <a:spcAft>
                <a:spcPts val="600"/>
              </a:spcAft>
              <a:buFont typeface="Arial" panose="020B0604020202020204" pitchFamily="34" charset="0"/>
              <a:buNone/>
            </a:pPr>
            <a:r>
              <a:rPr lang="en-US" sz="1400"/>
              <a:t>Naive Bayes is a simple, efficient probabilistic classifier suited for text classification tasks.</a:t>
            </a:r>
          </a:p>
          <a:p>
            <a:pPr marL="0" indent="0">
              <a:lnSpc>
                <a:spcPct val="90000"/>
              </a:lnSpc>
              <a:spcBef>
                <a:spcPts val="2500"/>
              </a:spcBef>
              <a:spcAft>
                <a:spcPts val="600"/>
              </a:spcAft>
              <a:buFont typeface="Arial" panose="020B0604020202020204" pitchFamily="34" charset="0"/>
              <a:buNone/>
            </a:pPr>
            <a:r>
              <a:rPr lang="en-US" sz="1400" b="1"/>
              <a:t>Logistic Regression Model</a:t>
            </a:r>
          </a:p>
          <a:p>
            <a:pPr marL="0" lvl="1" indent="0">
              <a:lnSpc>
                <a:spcPct val="90000"/>
              </a:lnSpc>
              <a:spcAft>
                <a:spcPts val="600"/>
              </a:spcAft>
              <a:buFont typeface="Arial" panose="020B0604020202020204" pitchFamily="34" charset="0"/>
              <a:buNone/>
            </a:pPr>
            <a:r>
              <a:rPr lang="en-US" sz="1400"/>
              <a:t>Logistic Regression handles binary and multiclass classification well, especially with high-dimensional text data.</a:t>
            </a:r>
          </a:p>
          <a:p>
            <a:pPr marL="0" indent="0">
              <a:lnSpc>
                <a:spcPct val="90000"/>
              </a:lnSpc>
              <a:spcBef>
                <a:spcPts val="2500"/>
              </a:spcBef>
              <a:spcAft>
                <a:spcPts val="600"/>
              </a:spcAft>
              <a:buFont typeface="Arial" panose="020B0604020202020204" pitchFamily="34" charset="0"/>
              <a:buNone/>
            </a:pPr>
            <a:r>
              <a:rPr lang="en-US" sz="1400" b="1"/>
              <a:t>Support Vector Machine</a:t>
            </a:r>
          </a:p>
          <a:p>
            <a:pPr marL="0" lvl="1" indent="0">
              <a:lnSpc>
                <a:spcPct val="90000"/>
              </a:lnSpc>
              <a:spcAft>
                <a:spcPts val="600"/>
              </a:spcAft>
              <a:buFont typeface="Arial" panose="020B0604020202020204" pitchFamily="34" charset="0"/>
              <a:buNone/>
            </a:pPr>
            <a:r>
              <a:rPr lang="en-US" sz="1400"/>
              <a:t>SVM finds the optimal hyperplane for class separation but requires careful parameter tuning.</a:t>
            </a:r>
          </a:p>
        </p:txBody>
      </p:sp>
    </p:spTree>
    <p:extLst>
      <p:ext uri="{BB962C8B-B14F-4D97-AF65-F5344CB8AC3E}">
        <p14:creationId xmlns:p14="http://schemas.microsoft.com/office/powerpoint/2010/main" val="17326123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DD836-70A6-B0CD-B116-7F952629EAA5}"/>
              </a:ext>
            </a:extLst>
          </p:cNvPr>
          <p:cNvSpPr>
            <a:spLocks noGrp="1"/>
          </p:cNvSpPr>
          <p:nvPr>
            <p:ph type="title"/>
          </p:nvPr>
        </p:nvSpPr>
        <p:spPr>
          <a:xfrm>
            <a:off x="1088136" y="1090244"/>
            <a:ext cx="4659277" cy="1669805"/>
          </a:xfrm>
        </p:spPr>
        <p:txBody>
          <a:bodyPr anchor="t">
            <a:normAutofit/>
          </a:bodyPr>
          <a:lstStyle/>
          <a:p>
            <a:r>
              <a:rPr lang="en-US"/>
              <a:t>Performance Metrics and Results</a:t>
            </a:r>
          </a:p>
        </p:txBody>
      </p:sp>
      <p:graphicFrame>
        <p:nvGraphicFramePr>
          <p:cNvPr id="5" name="Content Placeholder 4">
            <a:extLst>
              <a:ext uri="{FF2B5EF4-FFF2-40B4-BE49-F238E27FC236}">
                <a16:creationId xmlns:a16="http://schemas.microsoft.com/office/drawing/2014/main" id="{760D6004-A54C-494C-A80F-8B09E07F30F5}"/>
              </a:ext>
            </a:extLst>
          </p:cNvPr>
          <p:cNvGraphicFramePr>
            <a:graphicFrameLocks noGrp="1"/>
          </p:cNvGraphicFramePr>
          <p:nvPr>
            <p:ph sz="quarter" idx="14"/>
          </p:nvPr>
        </p:nvGraphicFramePr>
        <p:xfrm>
          <a:off x="6445250" y="2109053"/>
          <a:ext cx="4679951" cy="2358911"/>
        </p:xfrm>
        <a:graphic>
          <a:graphicData uri="http://schemas.openxmlformats.org/drawingml/2006/table">
            <a:tbl>
              <a:tblPr firstRow="1" bandRow="1">
                <a:noFill/>
                <a:tableStyleId>{5C22544A-7EE6-4342-B048-85BDC9FD1C3A}</a:tableStyleId>
              </a:tblPr>
              <a:tblGrid>
                <a:gridCol w="1206342">
                  <a:extLst>
                    <a:ext uri="{9D8B030D-6E8A-4147-A177-3AD203B41FA5}">
                      <a16:colId xmlns:a16="http://schemas.microsoft.com/office/drawing/2014/main" val="2839625156"/>
                    </a:ext>
                  </a:extLst>
                </a:gridCol>
                <a:gridCol w="1615874">
                  <a:extLst>
                    <a:ext uri="{9D8B030D-6E8A-4147-A177-3AD203B41FA5}">
                      <a16:colId xmlns:a16="http://schemas.microsoft.com/office/drawing/2014/main" val="1081989211"/>
                    </a:ext>
                  </a:extLst>
                </a:gridCol>
                <a:gridCol w="1020864">
                  <a:extLst>
                    <a:ext uri="{9D8B030D-6E8A-4147-A177-3AD203B41FA5}">
                      <a16:colId xmlns:a16="http://schemas.microsoft.com/office/drawing/2014/main" val="3272713398"/>
                    </a:ext>
                  </a:extLst>
                </a:gridCol>
                <a:gridCol w="836871">
                  <a:extLst>
                    <a:ext uri="{9D8B030D-6E8A-4147-A177-3AD203B41FA5}">
                      <a16:colId xmlns:a16="http://schemas.microsoft.com/office/drawing/2014/main" val="1991935092"/>
                    </a:ext>
                  </a:extLst>
                </a:gridCol>
              </a:tblGrid>
              <a:tr h="746418">
                <a:tc>
                  <a:txBody>
                    <a:bodyPr/>
                    <a:lstStyle/>
                    <a:p>
                      <a:pPr>
                        <a:buNone/>
                      </a:pPr>
                      <a:r>
                        <a:rPr lang="en-US" sz="1500" b="1" cap="all" spc="150" dirty="0">
                          <a:solidFill>
                            <a:schemeClr val="tx1"/>
                          </a:solidFill>
                        </a:rPr>
                        <a:t>Model</a:t>
                      </a:r>
                    </a:p>
                  </a:txBody>
                  <a:tcPr marL="128202" marR="128202" marT="128202" marB="128202"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500" b="1" cap="all" spc="150">
                          <a:solidFill>
                            <a:schemeClr val="tx1"/>
                          </a:solidFill>
                        </a:rPr>
                        <a:t>Test Accuracy</a:t>
                      </a:r>
                    </a:p>
                  </a:txBody>
                  <a:tcPr marL="128202" marR="128202" marT="128202" marB="128202"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500" b="1" cap="all" spc="150">
                          <a:solidFill>
                            <a:schemeClr val="tx1"/>
                          </a:solidFill>
                        </a:rPr>
                        <a:t>CV Mean</a:t>
                      </a:r>
                    </a:p>
                  </a:txBody>
                  <a:tcPr marL="128202" marR="128202" marT="128202" marB="128202"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500" b="1" cap="all" spc="150">
                          <a:solidFill>
                            <a:schemeClr val="tx1"/>
                          </a:solidFill>
                        </a:rPr>
                        <a:t>CV Std</a:t>
                      </a:r>
                    </a:p>
                  </a:txBody>
                  <a:tcPr marL="128202" marR="128202" marT="128202" marB="128202"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044289621"/>
                  </a:ext>
                </a:extLst>
              </a:tr>
              <a:tr h="475771">
                <a:tc>
                  <a:txBody>
                    <a:bodyPr/>
                    <a:lstStyle/>
                    <a:p>
                      <a:pPr>
                        <a:buNone/>
                      </a:pPr>
                      <a:r>
                        <a:rPr lang="en-US" sz="1200" b="1" cap="none" spc="0">
                          <a:solidFill>
                            <a:schemeClr val="tx1"/>
                          </a:solidFill>
                        </a:rPr>
                        <a:t>Naive Bayes</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a:solidFill>
                            <a:schemeClr val="tx1"/>
                          </a:solidFill>
                        </a:rPr>
                        <a:t>0.7215</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a:solidFill>
                            <a:schemeClr val="tx1"/>
                          </a:solidFill>
                        </a:rPr>
                        <a:t>0.4740</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a:solidFill>
                            <a:schemeClr val="tx1"/>
                          </a:solidFill>
                        </a:rPr>
                        <a:t>0.0594</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462148417"/>
                  </a:ext>
                </a:extLst>
              </a:tr>
              <a:tr h="660951">
                <a:tc>
                  <a:txBody>
                    <a:bodyPr/>
                    <a:lstStyle/>
                    <a:p>
                      <a:pPr>
                        <a:buNone/>
                      </a:pPr>
                      <a:r>
                        <a:rPr lang="en-US" sz="1200" b="1" cap="none" spc="0">
                          <a:solidFill>
                            <a:schemeClr val="tx1"/>
                          </a:solidFill>
                        </a:rPr>
                        <a:t>Logistic Regression</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a:solidFill>
                            <a:schemeClr val="tx1"/>
                          </a:solidFill>
                        </a:rPr>
                        <a:t>0.7148</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a:solidFill>
                            <a:schemeClr val="tx1"/>
                          </a:solidFill>
                        </a:rPr>
                        <a:t>0.7567</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200" cap="none" spc="0">
                          <a:solidFill>
                            <a:schemeClr val="tx1"/>
                          </a:solidFill>
                        </a:rPr>
                        <a:t>0.0313</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53445160"/>
                  </a:ext>
                </a:extLst>
              </a:tr>
              <a:tr h="475771">
                <a:tc>
                  <a:txBody>
                    <a:bodyPr/>
                    <a:lstStyle/>
                    <a:p>
                      <a:pPr>
                        <a:buNone/>
                      </a:pPr>
                      <a:r>
                        <a:rPr lang="en-US" sz="1200" b="1" cap="none" spc="0">
                          <a:solidFill>
                            <a:schemeClr val="tx1"/>
                          </a:solidFill>
                        </a:rPr>
                        <a:t>SVM</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200" cap="none" spc="0">
                          <a:solidFill>
                            <a:schemeClr val="tx1"/>
                          </a:solidFill>
                        </a:rPr>
                        <a:t>0.3557</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200" cap="none" spc="0">
                          <a:solidFill>
                            <a:schemeClr val="tx1"/>
                          </a:solidFill>
                        </a:rPr>
                        <a:t>0.3574</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200" cap="none" spc="0" dirty="0">
                          <a:solidFill>
                            <a:schemeClr val="tx1"/>
                          </a:solidFill>
                        </a:rPr>
                        <a:t>0.0193</a:t>
                      </a:r>
                    </a:p>
                  </a:txBody>
                  <a:tcPr marL="128202" marR="128202" marT="128202" marB="128202"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714184222"/>
                  </a:ext>
                </a:extLst>
              </a:tr>
            </a:tbl>
          </a:graphicData>
        </a:graphic>
      </p:graphicFrame>
    </p:spTree>
    <p:extLst>
      <p:ext uri="{BB962C8B-B14F-4D97-AF65-F5344CB8AC3E}">
        <p14:creationId xmlns:p14="http://schemas.microsoft.com/office/powerpoint/2010/main" val="13002955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D1515-F25E-D405-61D3-53743F1FB4D8}"/>
              </a:ext>
            </a:extLst>
          </p:cNvPr>
          <p:cNvSpPr>
            <a:spLocks noGrp="1"/>
          </p:cNvSpPr>
          <p:nvPr>
            <p:ph type="title"/>
          </p:nvPr>
        </p:nvSpPr>
        <p:spPr>
          <a:xfrm>
            <a:off x="1088136" y="1090244"/>
            <a:ext cx="10037064" cy="5159257"/>
          </a:xfrm>
        </p:spPr>
        <p:txBody>
          <a:bodyPr anchor="t">
            <a:normAutofit/>
          </a:bodyPr>
          <a:lstStyle/>
          <a:p>
            <a:r>
              <a:rPr lang="en-US"/>
              <a:t>Reflection and Future Directions</a:t>
            </a:r>
          </a:p>
        </p:txBody>
      </p:sp>
    </p:spTree>
    <p:extLst>
      <p:ext uri="{BB962C8B-B14F-4D97-AF65-F5344CB8AC3E}">
        <p14:creationId xmlns:p14="http://schemas.microsoft.com/office/powerpoint/2010/main" val="10624194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CEAFF-1DFC-BAD7-D50A-11AE70880CC3}"/>
              </a:ext>
            </a:extLst>
          </p:cNvPr>
          <p:cNvSpPr>
            <a:spLocks noGrp="1"/>
          </p:cNvSpPr>
          <p:nvPr>
            <p:ph type="title"/>
          </p:nvPr>
        </p:nvSpPr>
        <p:spPr>
          <a:xfrm>
            <a:off x="1093394" y="1112104"/>
            <a:ext cx="7343564" cy="932688"/>
          </a:xfrm>
        </p:spPr>
        <p:txBody>
          <a:bodyPr anchor="t">
            <a:normAutofit/>
          </a:bodyPr>
          <a:lstStyle/>
          <a:p>
            <a:r>
              <a:rPr lang="en-US" sz="3100"/>
              <a:t>Challenges and Applications</a:t>
            </a:r>
          </a:p>
        </p:txBody>
      </p:sp>
      <p:sp>
        <p:nvSpPr>
          <p:cNvPr id="4" name="Content Placeholder 3">
            <a:extLst>
              <a:ext uri="{FF2B5EF4-FFF2-40B4-BE49-F238E27FC236}">
                <a16:creationId xmlns:a16="http://schemas.microsoft.com/office/drawing/2014/main" id="{98D5F49F-1C42-86A5-E8CA-D4C6C8BD97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93393" y="2187258"/>
            <a:ext cx="7343565" cy="4099242"/>
          </a:xfr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a:t>Technical Integration Challenges</a:t>
            </a:r>
          </a:p>
          <a:p>
            <a:pPr marL="0" lvl="1" indent="0">
              <a:lnSpc>
                <a:spcPct val="90000"/>
              </a:lnSpc>
              <a:spcAft>
                <a:spcPts val="600"/>
              </a:spcAft>
              <a:buFont typeface="Arial" panose="020B0604020202020204" pitchFamily="34" charset="0"/>
              <a:buNone/>
            </a:pPr>
            <a:r>
              <a:rPr lang="en-US" sz="1400"/>
              <a:t>Integrating diverse NLP libraries and ensuring data compatibility posed significant technical challenges in the project.</a:t>
            </a:r>
          </a:p>
          <a:p>
            <a:pPr marL="0" indent="0">
              <a:lnSpc>
                <a:spcPct val="90000"/>
              </a:lnSpc>
              <a:spcBef>
                <a:spcPts val="2500"/>
              </a:spcBef>
              <a:spcAft>
                <a:spcPts val="600"/>
              </a:spcAft>
              <a:buFont typeface="Arial" panose="020B0604020202020204" pitchFamily="34" charset="0"/>
              <a:buNone/>
            </a:pPr>
            <a:r>
              <a:rPr lang="en-US" sz="1400" b="1"/>
              <a:t>Complex Data Handling</a:t>
            </a:r>
          </a:p>
          <a:p>
            <a:pPr marL="0" lvl="1" indent="0">
              <a:lnSpc>
                <a:spcPct val="90000"/>
              </a:lnSpc>
              <a:spcAft>
                <a:spcPts val="600"/>
              </a:spcAft>
              <a:buFont typeface="Arial" panose="020B0604020202020204" pitchFamily="34" charset="0"/>
              <a:buNone/>
            </a:pPr>
            <a:r>
              <a:rPr lang="en-US" sz="1400"/>
              <a:t>Combining sentiment scores, TF-IDF features, and entity lists required careful data structuring and processing.</a:t>
            </a:r>
          </a:p>
          <a:p>
            <a:pPr marL="0" indent="0">
              <a:lnSpc>
                <a:spcPct val="90000"/>
              </a:lnSpc>
              <a:spcBef>
                <a:spcPts val="2500"/>
              </a:spcBef>
              <a:spcAft>
                <a:spcPts val="600"/>
              </a:spcAft>
              <a:buFont typeface="Arial" panose="020B0604020202020204" pitchFamily="34" charset="0"/>
              <a:buNone/>
            </a:pPr>
            <a:r>
              <a:rPr lang="en-US" sz="1400" b="1"/>
              <a:t>Real-World Applications</a:t>
            </a:r>
          </a:p>
          <a:p>
            <a:pPr marL="0" lvl="1" indent="0">
              <a:lnSpc>
                <a:spcPct val="90000"/>
              </a:lnSpc>
              <a:spcAft>
                <a:spcPts val="600"/>
              </a:spcAft>
              <a:buFont typeface="Arial" panose="020B0604020202020204" pitchFamily="34" charset="0"/>
              <a:buNone/>
            </a:pPr>
            <a:r>
              <a:rPr lang="en-US" sz="1400"/>
              <a:t>The system supports media monitoring, content management, and business intelligence for efficient news categorization.</a:t>
            </a:r>
          </a:p>
          <a:p>
            <a:pPr marL="0" indent="0">
              <a:lnSpc>
                <a:spcPct val="90000"/>
              </a:lnSpc>
              <a:spcBef>
                <a:spcPts val="2500"/>
              </a:spcBef>
              <a:spcAft>
                <a:spcPts val="600"/>
              </a:spcAft>
              <a:buFont typeface="Arial" panose="020B0604020202020204" pitchFamily="34" charset="0"/>
              <a:buNone/>
            </a:pPr>
            <a:r>
              <a:rPr lang="en-US" sz="1400" b="1"/>
              <a:t>Value for Decision-Making</a:t>
            </a:r>
          </a:p>
          <a:p>
            <a:pPr marL="0" lvl="1" indent="0">
              <a:lnSpc>
                <a:spcPct val="90000"/>
              </a:lnSpc>
              <a:spcAft>
                <a:spcPts val="600"/>
              </a:spcAft>
              <a:buFont typeface="Arial" panose="020B0604020202020204" pitchFamily="34" charset="0"/>
              <a:buNone/>
            </a:pPr>
            <a:r>
              <a:rPr lang="en-US" sz="1400"/>
              <a:t>Automated text analysis helps organizations identify key insights and gauge public sentiment for strategic planning.</a:t>
            </a:r>
          </a:p>
        </p:txBody>
      </p:sp>
      <p:pic>
        <p:nvPicPr>
          <p:cNvPr id="5" name="Content Placeholder 4" descr="Internet of Things Concept">
            <a:extLst>
              <a:ext uri="{FF2B5EF4-FFF2-40B4-BE49-F238E27FC236}">
                <a16:creationId xmlns:a16="http://schemas.microsoft.com/office/drawing/2014/main" id="{D8496BEF-8B21-46C3-800E-72538AEB3118}"/>
              </a:ext>
            </a:extLst>
          </p:cNvPr>
          <p:cNvPicPr>
            <a:picLocks noGrp="1" noChangeAspect="1"/>
          </p:cNvPicPr>
          <p:nvPr>
            <p:ph type="pic" sz="quarter" idx="13"/>
          </p:nvPr>
        </p:nvPicPr>
        <p:blipFill>
          <a:blip r:embed="rId3"/>
          <a:srcRect l="28172" r="37504" b="-1"/>
          <a:stretch>
            <a:fillRect/>
          </a:stretch>
        </p:blipFill>
        <p:spPr>
          <a:xfrm>
            <a:off x="8665559" y="10"/>
            <a:ext cx="3526439" cy="6857990"/>
          </a:xfrm>
          <a:prstGeom prst="rect">
            <a:avLst/>
          </a:prstGeom>
          <a:noFill/>
        </p:spPr>
      </p:pic>
    </p:spTree>
    <p:extLst>
      <p:ext uri="{BB962C8B-B14F-4D97-AF65-F5344CB8AC3E}">
        <p14:creationId xmlns:p14="http://schemas.microsoft.com/office/powerpoint/2010/main" val="1151159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F27F0-E4EA-B7B4-60A9-CD5DDB83753B}"/>
              </a:ext>
            </a:extLst>
          </p:cNvPr>
          <p:cNvSpPr>
            <a:spLocks noGrp="1"/>
          </p:cNvSpPr>
          <p:nvPr>
            <p:ph type="title"/>
          </p:nvPr>
        </p:nvSpPr>
        <p:spPr>
          <a:xfrm>
            <a:off x="6386751" y="1115736"/>
            <a:ext cx="4738450" cy="1283986"/>
          </a:xfrm>
        </p:spPr>
        <p:txBody>
          <a:bodyPr anchor="t">
            <a:normAutofit/>
          </a:bodyPr>
          <a:lstStyle/>
          <a:p>
            <a:r>
              <a:rPr lang="en-US" sz="2800"/>
              <a:t>Ethical Considerations and Future Learning</a:t>
            </a:r>
          </a:p>
        </p:txBody>
      </p:sp>
      <p:pic>
        <p:nvPicPr>
          <p:cNvPr id="5" name="Content Placeholder 4" descr="AI Artificial intelligence abstract neural network future technology internet of things big data">
            <a:extLst>
              <a:ext uri="{FF2B5EF4-FFF2-40B4-BE49-F238E27FC236}">
                <a16:creationId xmlns:a16="http://schemas.microsoft.com/office/drawing/2014/main" id="{871A8A5B-735F-42E2-A2D4-B519A87FC422}"/>
              </a:ext>
            </a:extLst>
          </p:cNvPr>
          <p:cNvPicPr>
            <a:picLocks noGrp="1" noChangeAspect="1"/>
          </p:cNvPicPr>
          <p:nvPr>
            <p:ph type="pic" sz="quarter" idx="13"/>
          </p:nvPr>
        </p:nvPicPr>
        <p:blipFill>
          <a:blip r:embed="rId3"/>
          <a:srcRect l="16194" r="17139"/>
          <a:stretch>
            <a:fillRect/>
          </a:stretch>
        </p:blipFill>
        <p:spPr>
          <a:xfrm>
            <a:off x="20" y="10"/>
            <a:ext cx="6095980" cy="6857990"/>
          </a:xfrm>
          <a:prstGeom prst="rect">
            <a:avLst/>
          </a:prstGeom>
          <a:noFill/>
        </p:spPr>
      </p:pic>
      <p:sp>
        <p:nvSpPr>
          <p:cNvPr id="4" name="Content Placeholder 3">
            <a:extLst>
              <a:ext uri="{FF2B5EF4-FFF2-40B4-BE49-F238E27FC236}">
                <a16:creationId xmlns:a16="http://schemas.microsoft.com/office/drawing/2014/main" id="{5BF03285-A48F-2A97-8CA5-DEDAEA767C30}"/>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86751" y="2552124"/>
            <a:ext cx="4738450" cy="3734376"/>
          </a:xfrm>
        </p:spPr>
        <p:txBody>
          <a:bodyPr>
            <a:normAutofit/>
          </a:bodyPr>
          <a:lstStyle/>
          <a:p>
            <a:pPr marL="0" indent="0">
              <a:spcBef>
                <a:spcPts val="2500"/>
              </a:spcBef>
              <a:spcAft>
                <a:spcPts val="600"/>
              </a:spcAft>
              <a:buFont typeface="Arial" panose="020B0604020202020204" pitchFamily="34" charset="0"/>
              <a:buNone/>
            </a:pPr>
            <a:r>
              <a:rPr lang="en-US" sz="1400" b="1"/>
              <a:t>Ethical Risks and Responsibilities</a:t>
            </a:r>
          </a:p>
          <a:p>
            <a:pPr marL="0" lvl="1" indent="0">
              <a:spcAft>
                <a:spcPts val="600"/>
              </a:spcAft>
              <a:buFont typeface="Arial" panose="020B0604020202020204" pitchFamily="34" charset="0"/>
              <a:buNone/>
            </a:pPr>
            <a:r>
              <a:rPr lang="en-US" sz="1400"/>
              <a:t>Address ethical risks like algorithmic bias, privacy concerns, and misinformation misuse with transparency and fairness.</a:t>
            </a:r>
          </a:p>
          <a:p>
            <a:pPr marL="0" indent="0">
              <a:spcBef>
                <a:spcPts val="2500"/>
              </a:spcBef>
              <a:spcAft>
                <a:spcPts val="600"/>
              </a:spcAft>
              <a:buFont typeface="Arial" panose="020B0604020202020204" pitchFamily="34" charset="0"/>
              <a:buNone/>
            </a:pPr>
            <a:r>
              <a:rPr lang="en-US" sz="1400" b="1"/>
              <a:t>Advanced Learning Techniques</a:t>
            </a:r>
          </a:p>
          <a:p>
            <a:pPr marL="0" lvl="1" indent="0">
              <a:spcAft>
                <a:spcPts val="600"/>
              </a:spcAft>
              <a:buFont typeface="Arial" panose="020B0604020202020204" pitchFamily="34" charset="0"/>
              <a:buNone/>
            </a:pPr>
            <a:r>
              <a:rPr lang="en-US" sz="1400"/>
              <a:t>Future learning includes Topic Modeling, Transformers, BERT, and causal text analysis to enhance model capabilities.</a:t>
            </a:r>
          </a:p>
          <a:p>
            <a:pPr marL="0" indent="0">
              <a:spcBef>
                <a:spcPts val="2500"/>
              </a:spcBef>
              <a:spcAft>
                <a:spcPts val="600"/>
              </a:spcAft>
              <a:buFont typeface="Arial" panose="020B0604020202020204" pitchFamily="34" charset="0"/>
              <a:buNone/>
            </a:pPr>
            <a:r>
              <a:rPr lang="en-US" sz="1400" b="1"/>
              <a:t>Collaboration and Communication</a:t>
            </a:r>
          </a:p>
          <a:p>
            <a:pPr marL="0" lvl="1" indent="0">
              <a:spcAft>
                <a:spcPts val="600"/>
              </a:spcAft>
              <a:buFont typeface="Arial" panose="020B0604020202020204" pitchFamily="34" charset="0"/>
              <a:buNone/>
            </a:pPr>
            <a:r>
              <a:rPr lang="en-US" sz="1400"/>
              <a:t>Prioritize teamwork through code reviews and effective communication for successful project delivery.</a:t>
            </a:r>
          </a:p>
        </p:txBody>
      </p:sp>
    </p:spTree>
    <p:extLst>
      <p:ext uri="{BB962C8B-B14F-4D97-AF65-F5344CB8AC3E}">
        <p14:creationId xmlns:p14="http://schemas.microsoft.com/office/powerpoint/2010/main" val="36643945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98D6-2486-B206-E406-0609BBA65756}"/>
              </a:ext>
            </a:extLst>
          </p:cNvPr>
          <p:cNvSpPr>
            <a:spLocks noGrp="1"/>
          </p:cNvSpPr>
          <p:nvPr>
            <p:ph type="title"/>
          </p:nvPr>
        </p:nvSpPr>
        <p:spPr>
          <a:xfrm>
            <a:off x="1088136" y="1090244"/>
            <a:ext cx="10037064" cy="5159257"/>
          </a:xfrm>
        </p:spPr>
        <p:txBody>
          <a:bodyPr anchor="t">
            <a:normAutofit/>
          </a:bodyPr>
          <a:lstStyle/>
          <a:p>
            <a:r>
              <a:rPr lang="en-US"/>
              <a:t>Conclusion</a:t>
            </a:r>
          </a:p>
        </p:txBody>
      </p:sp>
    </p:spTree>
    <p:extLst>
      <p:ext uri="{BB962C8B-B14F-4D97-AF65-F5344CB8AC3E}">
        <p14:creationId xmlns:p14="http://schemas.microsoft.com/office/powerpoint/2010/main" val="41389039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E1B08-8FEA-848A-6BCC-62D81C8F22AE}"/>
              </a:ext>
            </a:extLst>
          </p:cNvPr>
          <p:cNvSpPr>
            <a:spLocks noGrp="1"/>
          </p:cNvSpPr>
          <p:nvPr>
            <p:ph type="title"/>
          </p:nvPr>
        </p:nvSpPr>
        <p:spPr>
          <a:xfrm>
            <a:off x="1093394" y="1112104"/>
            <a:ext cx="7343564" cy="932688"/>
          </a:xfrm>
        </p:spPr>
        <p:txBody>
          <a:bodyPr anchor="t">
            <a:normAutofit/>
          </a:bodyPr>
          <a:lstStyle/>
          <a:p>
            <a:r>
              <a:rPr lang="en-US" sz="3100"/>
              <a:t>Summary and Closing Remarks</a:t>
            </a:r>
          </a:p>
        </p:txBody>
      </p:sp>
      <p:sp>
        <p:nvSpPr>
          <p:cNvPr id="4" name="Content Placeholder 3">
            <a:extLst>
              <a:ext uri="{FF2B5EF4-FFF2-40B4-BE49-F238E27FC236}">
                <a16:creationId xmlns:a16="http://schemas.microsoft.com/office/drawing/2014/main" id="{9792738E-983C-90FC-5F3B-6B5B2DACD0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93393" y="2187258"/>
            <a:ext cx="7343565" cy="4099242"/>
          </a:xfr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a:t>Machine Learning Model Performance</a:t>
            </a:r>
          </a:p>
          <a:p>
            <a:pPr marL="0" lvl="1" indent="0">
              <a:lnSpc>
                <a:spcPct val="90000"/>
              </a:lnSpc>
              <a:spcAft>
                <a:spcPts val="600"/>
              </a:spcAft>
              <a:buFont typeface="Arial" panose="020B0604020202020204" pitchFamily="34" charset="0"/>
              <a:buNone/>
            </a:pPr>
            <a:r>
              <a:rPr lang="en-US" sz="1400"/>
              <a:t>Logistic Regression proved most robust, balancing accuracy and consistency in text classification tasks.</a:t>
            </a:r>
          </a:p>
          <a:p>
            <a:pPr marL="0" indent="0">
              <a:lnSpc>
                <a:spcPct val="90000"/>
              </a:lnSpc>
              <a:spcBef>
                <a:spcPts val="2500"/>
              </a:spcBef>
              <a:spcAft>
                <a:spcPts val="600"/>
              </a:spcAft>
              <a:buFont typeface="Arial" panose="020B0604020202020204" pitchFamily="34" charset="0"/>
              <a:buNone/>
            </a:pPr>
            <a:r>
              <a:rPr lang="en-US" sz="1400" b="1"/>
              <a:t>Challenges Faced</a:t>
            </a:r>
          </a:p>
          <a:p>
            <a:pPr marL="0" lvl="1" indent="0">
              <a:lnSpc>
                <a:spcPct val="90000"/>
              </a:lnSpc>
              <a:spcAft>
                <a:spcPts val="600"/>
              </a:spcAft>
              <a:buFont typeface="Arial" panose="020B0604020202020204" pitchFamily="34" charset="0"/>
              <a:buNone/>
            </a:pPr>
            <a:r>
              <a:rPr lang="en-US" sz="1400"/>
              <a:t>Data integration, ethical considerations, and model evaluation were key challenges in the project.</a:t>
            </a:r>
          </a:p>
          <a:p>
            <a:pPr marL="0" indent="0">
              <a:lnSpc>
                <a:spcPct val="90000"/>
              </a:lnSpc>
              <a:spcBef>
                <a:spcPts val="2500"/>
              </a:spcBef>
              <a:spcAft>
                <a:spcPts val="600"/>
              </a:spcAft>
              <a:buFont typeface="Arial" panose="020B0604020202020204" pitchFamily="34" charset="0"/>
              <a:buNone/>
            </a:pPr>
            <a:r>
              <a:rPr lang="en-US" sz="1400" b="1"/>
              <a:t>Future Enhancements</a:t>
            </a:r>
          </a:p>
          <a:p>
            <a:pPr marL="0" lvl="1" indent="0">
              <a:lnSpc>
                <a:spcPct val="90000"/>
              </a:lnSpc>
              <a:spcAft>
                <a:spcPts val="600"/>
              </a:spcAft>
              <a:buFont typeface="Arial" panose="020B0604020202020204" pitchFamily="34" charset="0"/>
              <a:buNone/>
            </a:pPr>
            <a:r>
              <a:rPr lang="en-US" sz="1400"/>
              <a:t>Focus will be on advanced NLP techniques and deep learning models to improve classification accuracy.</a:t>
            </a:r>
          </a:p>
          <a:p>
            <a:pPr marL="0" indent="0">
              <a:lnSpc>
                <a:spcPct val="90000"/>
              </a:lnSpc>
              <a:spcBef>
                <a:spcPts val="2500"/>
              </a:spcBef>
              <a:spcAft>
                <a:spcPts val="600"/>
              </a:spcAft>
              <a:buFont typeface="Arial" panose="020B0604020202020204" pitchFamily="34" charset="0"/>
              <a:buNone/>
            </a:pPr>
            <a:r>
              <a:rPr lang="en-US" sz="1400" b="1"/>
              <a:t>Ethical AI Importance</a:t>
            </a:r>
          </a:p>
          <a:p>
            <a:pPr marL="0" lvl="1" indent="0">
              <a:lnSpc>
                <a:spcPct val="90000"/>
              </a:lnSpc>
              <a:spcAft>
                <a:spcPts val="600"/>
              </a:spcAft>
              <a:buFont typeface="Arial" panose="020B0604020202020204" pitchFamily="34" charset="0"/>
              <a:buNone/>
            </a:pPr>
            <a:r>
              <a:rPr lang="en-US" sz="1400"/>
              <a:t>The project highlights the importance of technical rigor combined with ethical responsibility in AI development.</a:t>
            </a:r>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15E519D0-0E5D-423B-B27C-19E7534FF980}"/>
              </a:ext>
            </a:extLst>
          </p:cNvPr>
          <p:cNvPicPr>
            <a:picLocks noGrp="1" noChangeAspect="1"/>
          </p:cNvPicPr>
          <p:nvPr>
            <p:ph type="pic" sz="quarter" idx="13"/>
          </p:nvPr>
        </p:nvPicPr>
        <p:blipFill>
          <a:blip r:embed="rId3"/>
          <a:srcRect l="46813" r="9093" b="-1"/>
          <a:stretch>
            <a:fillRect/>
          </a:stretch>
        </p:blipFill>
        <p:spPr>
          <a:xfrm>
            <a:off x="8665559" y="10"/>
            <a:ext cx="3526439" cy="6857990"/>
          </a:xfrm>
          <a:prstGeom prst="rect">
            <a:avLst/>
          </a:prstGeom>
          <a:noFill/>
        </p:spPr>
      </p:pic>
    </p:spTree>
    <p:extLst>
      <p:ext uri="{BB962C8B-B14F-4D97-AF65-F5344CB8AC3E}">
        <p14:creationId xmlns:p14="http://schemas.microsoft.com/office/powerpoint/2010/main" val="2692530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design_Copilot Layouts_win32_SD_V7" id="{D68CBEBD-98F0-4FAF-8687-8614116B2926}" vid="{DBF1F633-2586-48B7-A7E5-6478FA1D81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147B0A-A3D1-43B0-B0BE-D6581D3609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9D4D66-A82C-4C14-A5CE-108788051B7D}">
  <ds:schemaRefs>
    <ds:schemaRef ds:uri="http://schemas.microsoft.com/office/2006/metadata/properties"/>
    <ds:schemaRef ds:uri="http://www.w3.org/XML/1998/namespace"/>
    <ds:schemaRef ds:uri="http://purl.org/dc/dcmitype/"/>
    <ds:schemaRef ds:uri="http://schemas.microsoft.com/sharepoint/v3"/>
    <ds:schemaRef ds:uri="http://purl.org/dc/elements/1.1/"/>
    <ds:schemaRef ds:uri="230e9df3-be65-4c73-a93b-d1236ebd677e"/>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3416ACBC-C288-4FE2-A121-1047B4270A6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6541</TotalTime>
  <Words>2029</Words>
  <Application>Microsoft Macintosh PowerPoint</Application>
  <PresentationFormat>Widescreen</PresentationFormat>
  <Paragraphs>97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Neue Haas Grotesk Text Pro</vt:lpstr>
      <vt:lpstr>System Font Regular</vt:lpstr>
      <vt:lpstr>Bjorn</vt:lpstr>
      <vt:lpstr>BBC News Categorization Analysis</vt:lpstr>
      <vt:lpstr>Introduction</vt:lpstr>
      <vt:lpstr>Project Dataset: BBC News</vt:lpstr>
      <vt:lpstr>Dataset Details</vt:lpstr>
      <vt:lpstr>Model Comparison and Performance</vt:lpstr>
      <vt:lpstr>Models Evaluated</vt:lpstr>
      <vt:lpstr>Performance Metrics and Results</vt:lpstr>
      <vt:lpstr>Reflection and Future Directions</vt:lpstr>
      <vt:lpstr>Challenges and Applications</vt:lpstr>
      <vt:lpstr>Ethical Considerations and Future Learning</vt:lpstr>
      <vt:lpstr>Conclusion</vt:lpstr>
      <vt:lpstr>Summary and Closing Remarks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Andres Daza</cp:lastModifiedBy>
  <cp:revision>4</cp:revision>
  <dcterms:created xsi:type="dcterms:W3CDTF">2022-04-13T19:23:35Z</dcterms:created>
  <dcterms:modified xsi:type="dcterms:W3CDTF">2025-12-03T02:09:47Z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